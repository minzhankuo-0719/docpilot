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9" r:id="rId4"/>
    <p:sldId id="258" r:id="rId5"/>
    <p:sldId id="260" r:id="rId6"/>
    <p:sldId id="292" r:id="rId7"/>
    <p:sldId id="262" r:id="rId8"/>
    <p:sldId id="261" r:id="rId9"/>
    <p:sldId id="273" r:id="rId10"/>
    <p:sldId id="300" r:id="rId11"/>
    <p:sldId id="272" r:id="rId12"/>
    <p:sldId id="263" r:id="rId13"/>
    <p:sldId id="264" r:id="rId14"/>
    <p:sldId id="265" r:id="rId15"/>
    <p:sldId id="271" r:id="rId16"/>
    <p:sldId id="285" r:id="rId17"/>
    <p:sldId id="287" r:id="rId18"/>
    <p:sldId id="289" r:id="rId19"/>
    <p:sldId id="284" r:id="rId20"/>
    <p:sldId id="266" r:id="rId21"/>
    <p:sldId id="275" r:id="rId22"/>
    <p:sldId id="267" r:id="rId23"/>
    <p:sldId id="288" r:id="rId24"/>
    <p:sldId id="268" r:id="rId25"/>
    <p:sldId id="286" r:id="rId26"/>
    <p:sldId id="269" r:id="rId27"/>
    <p:sldId id="276" r:id="rId28"/>
    <p:sldId id="299" r:id="rId29"/>
    <p:sldId id="277" r:id="rId30"/>
    <p:sldId id="290" r:id="rId31"/>
    <p:sldId id="291" r:id="rId32"/>
    <p:sldId id="293" r:id="rId33"/>
    <p:sldId id="294" r:id="rId34"/>
    <p:sldId id="295" r:id="rId35"/>
    <p:sldId id="296" r:id="rId36"/>
    <p:sldId id="270" r:id="rId3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40"/>
    <p:restoredTop sz="94599"/>
  </p:normalViewPr>
  <p:slideViewPr>
    <p:cSldViewPr snapToGrid="0" snapToObjects="1">
      <p:cViewPr varScale="1">
        <p:scale>
          <a:sx n="86" d="100"/>
          <a:sy n="86" d="100"/>
        </p:scale>
        <p:origin x="23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D67CD-272D-AD4D-B09C-F1BE800546B8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A33B9-4520-BC43-9254-715AAE8F9A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900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 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 </a:t>
            </a:r>
            <a:r>
              <a:rPr kumimoji="1" lang="en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KeyKey</a:t>
            </a:r>
            <a:r>
              <a:rPr kumimoji="1" lang="en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 </a:t>
            </a:r>
            <a:r>
              <a:rPr kumimoji="1" lang="en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ValueValue</a:t>
            </a:r>
            <a:r>
              <a:rPr kumimoji="1" lang="en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に分離することで </a:t>
            </a:r>
            <a:r>
              <a:rPr kumimoji="1" lang="en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keykey</a:t>
            </a:r>
            <a:r>
              <a:rPr kumimoji="1" lang="en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kumimoji="1" lang="ja-JP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 </a:t>
            </a:r>
            <a:r>
              <a:rPr kumimoji="1" lang="en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valuevalue</a:t>
            </a:r>
            <a:r>
              <a:rPr kumimoji="1" lang="en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kumimoji="1" lang="ja-JP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間の非自明な変換によって高い表現力が得られる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という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A33B9-4520-BC43-9254-715AAE8F9AE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951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A33B9-4520-BC43-9254-715AAE8F9AE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598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 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を </a:t>
            </a:r>
            <a:r>
              <a:rPr kumimoji="1" lang="en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KeyKey</a:t>
            </a:r>
            <a:r>
              <a:rPr kumimoji="1" lang="en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 </a:t>
            </a:r>
            <a:r>
              <a:rPr kumimoji="1" lang="en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ValueValue</a:t>
            </a:r>
            <a:r>
              <a:rPr kumimoji="1" lang="en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に分離することで </a:t>
            </a:r>
            <a:r>
              <a:rPr kumimoji="1" lang="en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keykey</a:t>
            </a:r>
            <a:r>
              <a:rPr kumimoji="1" lang="en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kumimoji="1" lang="ja-JP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 </a:t>
            </a:r>
            <a:r>
              <a:rPr kumimoji="1" lang="en" altLang="ja-JP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valuevalue</a:t>
            </a:r>
            <a:r>
              <a:rPr kumimoji="1" lang="en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kumimoji="1" lang="ja-JP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間の非自明な変換によって高い表現力が得られる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という</a:t>
            </a:r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A33B9-4520-BC43-9254-715AAE8F9AE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8986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self-attention layers are faster than recurrent layers when the sequence</a:t>
            </a:r>
          </a:p>
          <a:p>
            <a:r>
              <a:rPr kumimoji="1" lang="en" altLang="ja-J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length n  is smaller than the representation dimensionality d.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A33B9-4520-BC43-9254-715AAE8F9AE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210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A33B9-4520-BC43-9254-715AAE8F9AEA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666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Different colors show different heads..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A33B9-4520-BC43-9254-715AAE8F9AEA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951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Different colors show different heads..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A33B9-4520-BC43-9254-715AAE8F9AEA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148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Different colors show different heads..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A33B9-4520-BC43-9254-715AAE8F9AEA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59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6F96DD-FC46-E04D-B119-DF045972F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67BBF0-5C6D-A142-8837-41D399815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0BBB4A-E40D-4B46-89E2-08154EFDF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CE863A-C9FE-4E43-BD87-5AE8F21A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C6A8B6-0AAE-1842-8C22-F51778011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41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82CF7A-40CC-7D4D-B61B-C8D0E745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09AC88-77F4-BC46-85C4-A51B7B561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D611ED-8C78-D744-8051-8CA1AF20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DD0162-1B09-7749-B316-E0EEFFF7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D3245E-5103-E443-B0D1-281C70B1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67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B66FAF-7986-1149-8146-B30600099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EA5907-3904-CC47-8C1E-CF419DFA3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419F5-034D-D64A-9792-7BD573BE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451C5B-7924-E848-81B7-36BF0EE8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0E4BE1-5393-504A-B2F1-19658DFD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376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F95907-E970-5443-9B38-1D1E9094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EA595D-5F7D-164A-B8B1-B872006E0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D1FF25B-5B50-B949-B313-0880CB5BA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1B980E-B277-5F4D-99A4-38712D59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11406C7-7DC5-DA45-B9C0-6E254FC1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55FA23-4DB6-3440-9BFF-D0F30D79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64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E29D3-820B-A549-8185-8197FBEE9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1B2974-AFC2-C740-9821-2FED92996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BAC208-9867-C842-9B87-7AD655159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ACE6B30-8B5A-1240-9CCB-437B57CF9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6EB7310-615A-C541-BCB0-954F72698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75624CE-84B5-1242-BC3B-18FF3DA5F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9C05DB-4A59-BC4F-BB44-16630CE2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7247CB2-88A5-F644-9241-FFAA5860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87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9625CC-BDAC-7746-B5B9-4AED6E73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72CD95-E63D-7F4F-BC60-B470E392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DE6F80-6DA8-2143-AA12-46C8A28CE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EF3A1F-94DC-894D-A570-6B37BF2B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01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41FE025-B3BD-3249-93C6-D8F0F0471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876EBCF-8012-F343-BF0C-1773AAD2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FEA92F-82DE-AC4A-BE0D-05C9AB66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7583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A32BF5-138D-EC48-927E-6D356F61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F02892-4EA0-1942-AAF8-30026D812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333942-0528-D74E-BC5B-FA42AB6A7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A5A482-8C03-8B49-B416-9FBE4957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89BFA5-7F27-A448-9111-7DA9AA0A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D1169B-3D57-324F-B91A-2755B4AD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13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87C5CF-D3A3-9C45-8A2B-08789F0A0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1DCA5E-68AA-2147-9F72-F0C58F07F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8C447E-CF57-DC47-B31A-FB2309187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D27FEE-E0EB-984F-99B1-8E31DC54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0495F2-CCFD-7A4A-9D00-CDFE478B6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09EEE9-21A1-E549-B06C-300F13DC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79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5E47C4-BC34-004A-B756-E1530061F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68605C-E231-D442-82BA-6705FE93C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57DD9C-220C-AD47-87DA-44BC7C60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B883DD-D779-BB42-B015-8BE8238A3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D38A98-9F3E-7240-83B5-B1E6088E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731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DEEAA44-F98F-274D-B3DB-9553C3D56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D6345C-20E8-1147-A549-08001FA9F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BD50A2-9950-2140-9CCA-89076E7E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5CF6A6-4773-4C49-BEEF-9FD9458D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26B3D-A0A3-8641-B16F-381CFC93D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367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1ADE0D-7997-F242-9EF9-A38F47C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1A083E-9CAC-EB49-B79A-60B097511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458B8A-C85B-674F-B3AD-CE08F6E88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1A1D7-8EA6-CD4D-AD6A-8B8548EF2680}" type="datetimeFigureOut">
              <a:rPr kumimoji="1" lang="ja-JP" altLang="en-US" smtClean="0"/>
              <a:t>2019/1/11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31F36C-E0AE-BC4B-B3F9-D71B13AD3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AE72D4-94C6-B14D-A55B-D71E38C2E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D2827-5DAB-5549-BD3D-C80E55D250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20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deeplearning.hatenablog.com/entry/transformer" TargetMode="External"/><Relationship Id="rId2" Type="http://schemas.openxmlformats.org/officeDocument/2006/relationships/hyperlink" Target="https://jalammar.github.io/illustrated-transforme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D44F60-A015-0D4E-97A7-A449B86476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Attention Is All you need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52A0DB8-45E8-0F4C-ABBD-D72C8A59B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5579" y="4372059"/>
            <a:ext cx="9144000" cy="1655762"/>
          </a:xfrm>
        </p:spPr>
        <p:txBody>
          <a:bodyPr>
            <a:normAutofit fontScale="92500" lnSpcReduction="10000"/>
          </a:bodyPr>
          <a:lstStyle/>
          <a:p>
            <a:endParaRPr lang="en-US" altLang="ja-JP" dirty="0"/>
          </a:p>
          <a:p>
            <a:pPr algn="r"/>
            <a:r>
              <a:rPr kumimoji="1" lang="en-US" altLang="ja-JP" dirty="0"/>
              <a:t>Reading Seminar</a:t>
            </a:r>
          </a:p>
          <a:p>
            <a:pPr algn="r"/>
            <a:r>
              <a:rPr kumimoji="1" lang="en-US" altLang="ja-JP" dirty="0"/>
              <a:t>Kyoto University, Kashima lab</a:t>
            </a:r>
          </a:p>
          <a:p>
            <a:pPr algn="r"/>
            <a:r>
              <a:rPr kumimoji="1" lang="en-US" altLang="ja-JP" dirty="0"/>
              <a:t>Daiki Tanaka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021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4F9E62-250E-CE4F-826C-28E69475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Today’s Paper : ‘</a:t>
            </a:r>
            <a:r>
              <a:rPr lang="en-US" altLang="ja-JP" dirty="0"/>
              <a:t>Attention Is All you need</a:t>
            </a:r>
            <a:r>
              <a:rPr kumimoji="1" lang="en-US" altLang="ja-JP" dirty="0"/>
              <a:t>‘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E364B7-CF19-7A4D-AA00-C61C35C6A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4664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Conference : NIPS 2017</a:t>
            </a:r>
          </a:p>
          <a:p>
            <a:r>
              <a:rPr kumimoji="1" lang="en-US" altLang="ja-JP" dirty="0"/>
              <a:t>Cited 966 times.</a:t>
            </a:r>
          </a:p>
          <a:p>
            <a:r>
              <a:rPr lang="en-US" altLang="ja-JP" dirty="0"/>
              <a:t>Authors : </a:t>
            </a:r>
          </a:p>
          <a:p>
            <a:pPr lvl="1"/>
            <a:r>
              <a:rPr lang="en" altLang="ja-JP" dirty="0"/>
              <a:t>Ashish Vaswani (Google Brain)</a:t>
            </a:r>
          </a:p>
          <a:p>
            <a:pPr lvl="1"/>
            <a:r>
              <a:rPr lang="en" altLang="ja-JP" dirty="0"/>
              <a:t>Noam </a:t>
            </a:r>
            <a:r>
              <a:rPr lang="en" altLang="ja-JP" dirty="0" err="1"/>
              <a:t>Shazeer</a:t>
            </a:r>
            <a:r>
              <a:rPr lang="en" altLang="ja-JP" dirty="0"/>
              <a:t> (Google Brain)</a:t>
            </a:r>
          </a:p>
          <a:p>
            <a:pPr lvl="1"/>
            <a:r>
              <a:rPr lang="en" altLang="ja-JP" dirty="0"/>
              <a:t>Niki Parmar (Google Research)</a:t>
            </a:r>
          </a:p>
          <a:p>
            <a:pPr lvl="1"/>
            <a:r>
              <a:rPr lang="en" altLang="ja-JP" dirty="0"/>
              <a:t>Jakob </a:t>
            </a:r>
            <a:r>
              <a:rPr lang="en" altLang="ja-JP" dirty="0" err="1"/>
              <a:t>Uszkoreit</a:t>
            </a:r>
            <a:r>
              <a:rPr lang="en" altLang="ja-JP" dirty="0"/>
              <a:t> (Google Research)</a:t>
            </a:r>
          </a:p>
          <a:p>
            <a:pPr lvl="1"/>
            <a:r>
              <a:rPr lang="en" altLang="ja-JP" dirty="0" err="1"/>
              <a:t>Llion</a:t>
            </a:r>
            <a:r>
              <a:rPr lang="en" altLang="ja-JP" dirty="0"/>
              <a:t> Jones (Google Research)</a:t>
            </a:r>
          </a:p>
          <a:p>
            <a:pPr lvl="1"/>
            <a:r>
              <a:rPr lang="en" altLang="ja-JP" dirty="0"/>
              <a:t>Aidan N. Gomez (University of Toronto)</a:t>
            </a:r>
          </a:p>
          <a:p>
            <a:pPr lvl="1"/>
            <a:r>
              <a:rPr lang="en" altLang="ja-JP" dirty="0" err="1"/>
              <a:t>Łukasz</a:t>
            </a:r>
            <a:r>
              <a:rPr lang="en" altLang="ja-JP" dirty="0"/>
              <a:t> Kaiser (Google Brain)</a:t>
            </a:r>
          </a:p>
          <a:p>
            <a:pPr lvl="1"/>
            <a:r>
              <a:rPr lang="en" altLang="ja-JP" dirty="0" err="1"/>
              <a:t>Illia</a:t>
            </a:r>
            <a:r>
              <a:rPr lang="en" altLang="ja-JP" dirty="0"/>
              <a:t> </a:t>
            </a:r>
            <a:r>
              <a:rPr lang="en" altLang="ja-JP" dirty="0" err="1"/>
              <a:t>Polosukhin</a:t>
            </a:r>
            <a:r>
              <a:rPr lang="en-US" altLang="ja-JP" dirty="0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21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200" dirty="0"/>
              <a:t>Background : Natural language processing is the important application of ML</a:t>
            </a:r>
            <a:endParaRPr kumimoji="1" lang="ja-JP" altLang="en-US" sz="32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84F04-56D0-864B-9645-7DC4D2AC0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There are many tasks which are solved by NLP technique.</a:t>
            </a:r>
          </a:p>
          <a:p>
            <a:pPr lvl="1"/>
            <a:r>
              <a:rPr lang="en-US" altLang="ja-JP" dirty="0"/>
              <a:t>Sentence classification</a:t>
            </a:r>
          </a:p>
          <a:p>
            <a:pPr lvl="1"/>
            <a:r>
              <a:rPr lang="en-US" altLang="ja-JP" dirty="0"/>
              <a:t>Sentence to sentence</a:t>
            </a:r>
          </a:p>
          <a:p>
            <a:pPr lvl="1"/>
            <a:r>
              <a:rPr kumimoji="1" lang="en-US" altLang="ja-JP" dirty="0"/>
              <a:t>Sentence to tag …</a:t>
            </a:r>
          </a:p>
          <a:p>
            <a:pPr lvl="1"/>
            <a:endParaRPr lang="en-US" altLang="ja-JP" dirty="0"/>
          </a:p>
          <a:p>
            <a:endParaRPr kumimoji="1" lang="en-US" altLang="ja-JP" dirty="0"/>
          </a:p>
          <a:p>
            <a:pPr lvl="1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A5A318B-0DB7-4746-BA47-67552A54A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124" y="2926080"/>
            <a:ext cx="5276713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3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Background : </a:t>
            </a:r>
            <a:r>
              <a:rPr kumimoji="1" lang="en-US" altLang="ja-JP" sz="2400" dirty="0"/>
              <a:t>former techniques are not good at </a:t>
            </a:r>
            <a:r>
              <a:rPr lang="en-US" altLang="ja-JP" sz="2400" b="1" dirty="0"/>
              <a:t>parallelization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84F04-56D0-864B-9645-7DC4D2AC0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3987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RNN, LSTM, and GRN have been SOTA in sequence modeling problems.</a:t>
            </a:r>
            <a:endParaRPr lang="en-US" altLang="ja-JP" dirty="0"/>
          </a:p>
          <a:p>
            <a:r>
              <a:rPr kumimoji="1" lang="en-US" altLang="ja-JP" dirty="0"/>
              <a:t>RNN generates a hidden states, as a function of the previous hidden states and the input.</a:t>
            </a:r>
          </a:p>
          <a:p>
            <a:r>
              <a:rPr lang="en-US" altLang="ja-JP" dirty="0"/>
              <a:t>This sequential nature </a:t>
            </a:r>
            <a:r>
              <a:rPr lang="en-US" altLang="ja-JP" b="1" dirty="0"/>
              <a:t>prevents parallelization</a:t>
            </a:r>
            <a:r>
              <a:rPr lang="en-US" altLang="ja-JP" dirty="0"/>
              <a:t> within training samples</a:t>
            </a:r>
            <a:r>
              <a:rPr lang="en-US" altLang="ja-JP" b="1" dirty="0"/>
              <a:t> </a:t>
            </a:r>
            <a:r>
              <a:rPr lang="en-US" altLang="ja-JP" dirty="0"/>
              <a:t>especially when sequence length is long.</a:t>
            </a:r>
          </a:p>
          <a:p>
            <a:endParaRPr lang="en-US" altLang="ja-JP" dirty="0"/>
          </a:p>
          <a:p>
            <a:r>
              <a:rPr lang="en-US" altLang="ja-JP" dirty="0"/>
              <a:t>Attention mechanisms have become an integral part of recent models, but such attention mechanisms are used with a recurrent network. </a:t>
            </a:r>
          </a:p>
        </p:txBody>
      </p:sp>
    </p:spTree>
    <p:extLst>
      <p:ext uri="{BB962C8B-B14F-4D97-AF65-F5344CB8AC3E}">
        <p14:creationId xmlns:p14="http://schemas.microsoft.com/office/powerpoint/2010/main" val="4076594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Background – </a:t>
            </a:r>
            <a:r>
              <a:rPr kumimoji="1" lang="en-US" altLang="ja-JP" sz="3600" dirty="0"/>
              <a:t>challenge of computational cost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84F04-56D0-864B-9645-7DC4D2AC0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5852"/>
          </a:xfrm>
        </p:spPr>
        <p:txBody>
          <a:bodyPr/>
          <a:lstStyle/>
          <a:p>
            <a:r>
              <a:rPr kumimoji="1" lang="en-US" altLang="ja-JP" dirty="0"/>
              <a:t>Reducing sequential computation is achieved by using CNN, or computing hidden states in parallel.</a:t>
            </a:r>
          </a:p>
          <a:p>
            <a:endParaRPr kumimoji="1" lang="en-US" altLang="ja-JP" dirty="0"/>
          </a:p>
          <a:p>
            <a:r>
              <a:rPr lang="en-US" altLang="ja-JP" dirty="0"/>
              <a:t>But in these methods, the number of operations to relate two input and output positions grows in the distance between distances. </a:t>
            </a:r>
            <a:r>
              <a:rPr lang="ja-JP" altLang="en-US"/>
              <a:t>→</a:t>
            </a:r>
            <a:r>
              <a:rPr lang="en-US" altLang="ja-JP" dirty="0"/>
              <a:t> It is difficult to learn dependencies between distant positions.</a:t>
            </a:r>
          </a:p>
          <a:p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85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MATOME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84F04-56D0-864B-9645-7DC4D2AC0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5852"/>
          </a:xfrm>
        </p:spPr>
        <p:txBody>
          <a:bodyPr/>
          <a:lstStyle/>
          <a:p>
            <a:r>
              <a:rPr kumimoji="1" lang="en-US" altLang="ja-JP" dirty="0"/>
              <a:t>Using attention mechanisms allow us to draw global dependencies between input and output </a:t>
            </a:r>
            <a:r>
              <a:rPr lang="en-US" altLang="ja-JP" dirty="0"/>
              <a:t>by</a:t>
            </a:r>
            <a:r>
              <a:rPr kumimoji="1" lang="en-US" altLang="ja-JP" dirty="0"/>
              <a:t> </a:t>
            </a:r>
            <a:r>
              <a:rPr lang="en-US" altLang="ja-JP" dirty="0"/>
              <a:t>a constant number of operations.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In this work, they propose the </a:t>
            </a:r>
            <a:r>
              <a:rPr kumimoji="1" lang="en-US" altLang="ja-JP" b="1" dirty="0"/>
              <a:t>Transformer </a:t>
            </a:r>
            <a:r>
              <a:rPr kumimoji="1" lang="en-US" altLang="ja-JP" dirty="0"/>
              <a:t>which doesn’t use recurrent architecture or </a:t>
            </a:r>
            <a:r>
              <a:rPr kumimoji="1" lang="en-US" altLang="ja-JP"/>
              <a:t>convolutional architecture, </a:t>
            </a:r>
            <a:r>
              <a:rPr kumimoji="1" lang="en-US" altLang="ja-JP" dirty="0"/>
              <a:t>and reaches a state-of-the-art in translation quality.</a:t>
            </a:r>
            <a:endParaRPr kumimoji="1" lang="ja-JP" altLang="en-US" b="1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4774E4A-E1CE-4A48-9EA6-FBA7F379D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286" y="4838700"/>
            <a:ext cx="38989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4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Problem Setting</a:t>
            </a:r>
            <a:r>
              <a:rPr lang="ja-JP" altLang="en-US"/>
              <a:t> </a:t>
            </a:r>
            <a:r>
              <a:rPr lang="en-US" altLang="ja-JP" dirty="0"/>
              <a:t>:</a:t>
            </a:r>
            <a:r>
              <a:rPr lang="ja-JP" altLang="en-US"/>
              <a:t> </a:t>
            </a:r>
            <a:r>
              <a:rPr lang="en-US" altLang="ja-JP" dirty="0"/>
              <a:t>Sequence to sequence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dirty="0"/>
                  <a:t>Input : </a:t>
                </a:r>
              </a:p>
              <a:p>
                <a:pPr lvl="1"/>
                <a:r>
                  <a:rPr lang="en-US" altLang="ja-JP" dirty="0"/>
                  <a:t>Sequence of symbol representations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kumimoji="1" lang="en-US" altLang="ja-JP" sz="2400" dirty="0"/>
                  <a:t>“This is a pen.”</a:t>
                </a:r>
              </a:p>
              <a:p>
                <a:pPr lvl="1"/>
                <a:endParaRPr kumimoji="1" lang="en-US" altLang="ja-JP" dirty="0"/>
              </a:p>
              <a:p>
                <a:r>
                  <a:rPr lang="en-US" altLang="ja-JP" dirty="0"/>
                  <a:t>Output</a:t>
                </a:r>
              </a:p>
              <a:p>
                <a:pPr lvl="1"/>
                <a:r>
                  <a:rPr kumimoji="1" lang="en-US" altLang="ja-JP" dirty="0"/>
                  <a:t>Sequence of symbol </a:t>
                </a:r>
                <a:r>
                  <a:rPr lang="en-US" altLang="ja-JP" dirty="0"/>
                  <a:t>representations</a:t>
                </a:r>
                <a:r>
                  <a:rPr kumimoji="1"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sz="2400"/>
                  <a:t>「これ</a:t>
                </a:r>
                <a:r>
                  <a:rPr lang="en-US" altLang="ja-JP" sz="2400" dirty="0"/>
                  <a:t> </a:t>
                </a:r>
                <a:r>
                  <a:rPr lang="ja-JP" altLang="en-US" sz="2400"/>
                  <a:t>は</a:t>
                </a:r>
                <a:r>
                  <a:rPr lang="en-US" altLang="ja-JP" sz="2400" dirty="0"/>
                  <a:t> </a:t>
                </a:r>
                <a:r>
                  <a:rPr lang="ja-JP" altLang="en-US" sz="2400"/>
                  <a:t>ペン</a:t>
                </a:r>
                <a:r>
                  <a:rPr lang="en-US" altLang="ja-JP" sz="2400" dirty="0"/>
                  <a:t> </a:t>
                </a:r>
                <a:r>
                  <a:rPr lang="ja-JP" altLang="en-US" sz="2400"/>
                  <a:t>です。」</a:t>
                </a:r>
                <a:endParaRPr lang="en-US" altLang="ja-JP" sz="2400" dirty="0"/>
              </a:p>
              <a:p>
                <a:pPr lvl="1"/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45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Entire Model Architecture</a:t>
            </a:r>
            <a:endParaRPr kumimoji="1" lang="ja-JP" altLang="en-US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17D74613-BE96-4B41-8DCD-2E904616B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8111" y="1027906"/>
            <a:ext cx="4912363" cy="5859379"/>
          </a:xfr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A5A55E7-2166-5043-8E83-6FD07E9D43C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Left side : Encoder</a:t>
            </a:r>
          </a:p>
          <a:p>
            <a:r>
              <a:rPr lang="en-US" altLang="ja-JP" dirty="0"/>
              <a:t>Right side : Decoder</a:t>
            </a:r>
          </a:p>
          <a:p>
            <a:endParaRPr lang="en-US" altLang="ja-JP" dirty="0"/>
          </a:p>
          <a:p>
            <a:r>
              <a:rPr lang="en-US" altLang="ja-JP" dirty="0"/>
              <a:t>Consisting layers:</a:t>
            </a:r>
          </a:p>
          <a:p>
            <a:pPr lvl="1"/>
            <a:r>
              <a:rPr lang="en-US" altLang="ja-JP" b="1" dirty="0"/>
              <a:t>Multi-Head Attention layer</a:t>
            </a:r>
          </a:p>
          <a:p>
            <a:pPr lvl="1"/>
            <a:r>
              <a:rPr lang="en-US" altLang="ja-JP" b="1" dirty="0"/>
              <a:t>Position-wise Feed-Forward layer</a:t>
            </a:r>
          </a:p>
          <a:p>
            <a:pPr lvl="1"/>
            <a:r>
              <a:rPr lang="en-US" altLang="ja-JP" b="1" dirty="0"/>
              <a:t>Positional Encoding</a:t>
            </a:r>
          </a:p>
          <a:p>
            <a:pPr lvl="1"/>
            <a:r>
              <a:rPr lang="en-US" altLang="ja-JP" dirty="0"/>
              <a:t>(Residual Adding and Normalization layer)</a:t>
            </a:r>
          </a:p>
        </p:txBody>
      </p:sp>
    </p:spTree>
    <p:extLst>
      <p:ext uri="{BB962C8B-B14F-4D97-AF65-F5344CB8AC3E}">
        <p14:creationId xmlns:p14="http://schemas.microsoft.com/office/powerpoint/2010/main" val="98351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17D74613-BE96-4B41-8DCD-2E904616B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6592" y="365125"/>
            <a:ext cx="5358815" cy="6391899"/>
          </a:xfr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A5A55E7-2166-5043-8E83-6FD07E9D43C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44E16044-FCAC-2741-B5A8-6CC4FE06DB39}"/>
              </a:ext>
            </a:extLst>
          </p:cNvPr>
          <p:cNvSpPr/>
          <p:nvPr/>
        </p:nvSpPr>
        <p:spPr>
          <a:xfrm>
            <a:off x="4135902" y="3784209"/>
            <a:ext cx="1840524" cy="1083213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58163155-C06B-7343-9EDB-36E617704A61}"/>
              </a:ext>
            </a:extLst>
          </p:cNvPr>
          <p:cNvSpPr/>
          <p:nvPr/>
        </p:nvSpPr>
        <p:spPr>
          <a:xfrm>
            <a:off x="6032401" y="3663777"/>
            <a:ext cx="1970064" cy="1083213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9DC8E6FA-3B84-4842-8A60-045B188DF642}"/>
              </a:ext>
            </a:extLst>
          </p:cNvPr>
          <p:cNvSpPr/>
          <p:nvPr/>
        </p:nvSpPr>
        <p:spPr>
          <a:xfrm>
            <a:off x="5967631" y="2473898"/>
            <a:ext cx="2099605" cy="1083213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640A99-58C0-EE47-98AD-37E21111E496}"/>
              </a:ext>
            </a:extLst>
          </p:cNvPr>
          <p:cNvSpPr txBox="1"/>
          <p:nvPr/>
        </p:nvSpPr>
        <p:spPr>
          <a:xfrm>
            <a:off x="1125414" y="4205383"/>
            <a:ext cx="2954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Self attention in Encoder</a:t>
            </a:r>
            <a:endParaRPr kumimoji="1" lang="ja-JP" altLang="en-US" b="1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695AFB4-05DD-7F4D-9DDC-D338A9C0634D}"/>
              </a:ext>
            </a:extLst>
          </p:cNvPr>
          <p:cNvSpPr txBox="1"/>
          <p:nvPr/>
        </p:nvSpPr>
        <p:spPr>
          <a:xfrm>
            <a:off x="8401586" y="4141149"/>
            <a:ext cx="323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Self attention in Decoder</a:t>
            </a:r>
            <a:endParaRPr kumimoji="1" lang="ja-JP" altLang="en-US" b="1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9916E18-356B-B246-B179-4AE946558CEB}"/>
              </a:ext>
            </a:extLst>
          </p:cNvPr>
          <p:cNvSpPr txBox="1"/>
          <p:nvPr/>
        </p:nvSpPr>
        <p:spPr>
          <a:xfrm>
            <a:off x="8401586" y="2856901"/>
            <a:ext cx="349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Encoder-Decoder attention</a:t>
            </a:r>
            <a:endParaRPr kumimoji="1" lang="ja-JP" altLang="en-US" b="1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F69EB4C-BCBA-F547-BE4F-6627E66E1649}"/>
              </a:ext>
            </a:extLst>
          </p:cNvPr>
          <p:cNvSpPr txBox="1"/>
          <p:nvPr/>
        </p:nvSpPr>
        <p:spPr>
          <a:xfrm>
            <a:off x="584616" y="689548"/>
            <a:ext cx="4631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1. Attentions </a:t>
            </a:r>
            <a:endParaRPr kumimoji="1" lang="ja-JP" altLang="en-US" sz="4000"/>
          </a:p>
        </p:txBody>
      </p:sp>
    </p:spTree>
    <p:extLst>
      <p:ext uri="{BB962C8B-B14F-4D97-AF65-F5344CB8AC3E}">
        <p14:creationId xmlns:p14="http://schemas.microsoft.com/office/powerpoint/2010/main" val="365417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What is Attention?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221" y="1555801"/>
                <a:ext cx="11261558" cy="4863933"/>
              </a:xfrm>
            </p:spPr>
            <p:txBody>
              <a:bodyPr>
                <a:normAutofit/>
              </a:bodyPr>
              <a:lstStyle/>
              <a:p>
                <a:r>
                  <a:rPr lang="en-US" altLang="ja-JP" dirty="0"/>
                  <a:t>Attention : 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(vector, matrix, matrix)</a:t>
                </a:r>
                <a:r>
                  <a:rPr lang="en-US" altLang="ja-JP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ja-JP" dirty="0">
                    <a:solidFill>
                      <a:srgbClr val="FF0000"/>
                    </a:solidFill>
                  </a:rPr>
                  <a:t>vector</a:t>
                </a:r>
                <a:endParaRPr lang="en-US" altLang="ja-JP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𝑞𝑢𝑒𝑟𝑦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𝐾𝑒𝑦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𝑉𝑎𝑙𝑢𝑒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𝑞𝑢𝑒𝑟𝑦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𝐾𝑒</m:t>
                        </m:r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𝑉𝑎𝑙𝑢𝑒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pPr marL="0" indent="0">
                  <a:buNone/>
                </a:pPr>
                <a:endParaRPr lang="en-US" altLang="ja-JP" sz="3200" dirty="0"/>
              </a:p>
              <a:p>
                <a:endParaRPr lang="en-US" altLang="ja-JP" sz="32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221" y="1555801"/>
                <a:ext cx="11261558" cy="4863933"/>
              </a:xfrm>
              <a:blipFill>
                <a:blip r:embed="rId3"/>
                <a:stretch>
                  <a:fillRect l="-902" t="-20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FFD0CAED-8312-0D45-821A-BA82C0FC6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685" y="2810357"/>
            <a:ext cx="6169216" cy="396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01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What is Attention?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221" y="1436185"/>
                <a:ext cx="11261558" cy="486393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𝑞𝑢𝑒𝑟𝑦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𝐾𝑒𝑦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𝑉𝑎𝑙𝑢𝑒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𝑞𝑢𝑒𝑟𝑦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𝐾𝑒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𝑉𝑎𝑙𝑢𝑒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pPr marL="0" indent="0">
                  <a:buNone/>
                </a:pPr>
                <a:r>
                  <a:rPr lang="en-US" altLang="ja-JP" sz="3200" dirty="0"/>
                  <a:t>	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221" y="1436185"/>
                <a:ext cx="11261558" cy="4863933"/>
              </a:xfrm>
              <a:blipFill>
                <a:blip r:embed="rId3"/>
                <a:stretch>
                  <a:fillRect t="-15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75D83F1-508C-AD4C-BDD2-E71FDE790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" y="2122636"/>
            <a:ext cx="6946314" cy="4463549"/>
          </a:xfrm>
          <a:prstGeom prst="rect">
            <a:avLst/>
          </a:prstGeom>
        </p:spPr>
      </p:pic>
      <p:sp>
        <p:nvSpPr>
          <p:cNvPr id="9" name="角丸四角形 8">
            <a:extLst>
              <a:ext uri="{FF2B5EF4-FFF2-40B4-BE49-F238E27FC236}">
                <a16:creationId xmlns:a16="http://schemas.microsoft.com/office/drawing/2014/main" id="{11903829-4BF0-D04F-87D0-48ED015697A0}"/>
              </a:ext>
            </a:extLst>
          </p:cNvPr>
          <p:cNvSpPr/>
          <p:nvPr/>
        </p:nvSpPr>
        <p:spPr>
          <a:xfrm>
            <a:off x="6175717" y="1195754"/>
            <a:ext cx="3882683" cy="872197"/>
          </a:xfrm>
          <a:prstGeom prst="roundRect">
            <a:avLst/>
          </a:prstGeom>
          <a:solidFill>
            <a:srgbClr val="FF0000">
              <a:alpha val="1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742DF40-2AE3-664C-894A-9F3C8CE2EDC2}"/>
              </a:ext>
            </a:extLst>
          </p:cNvPr>
          <p:cNvSpPr txBox="1"/>
          <p:nvPr/>
        </p:nvSpPr>
        <p:spPr>
          <a:xfrm>
            <a:off x="6775938" y="797073"/>
            <a:ext cx="2860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Attention Weight</a:t>
            </a:r>
            <a:endParaRPr kumimoji="1" lang="ja-JP" altLang="en-US" sz="2400" b="1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E1E260-D59D-9A47-8BA2-E4D45AD86C9B}"/>
              </a:ext>
            </a:extLst>
          </p:cNvPr>
          <p:cNvSpPr txBox="1"/>
          <p:nvPr/>
        </p:nvSpPr>
        <p:spPr>
          <a:xfrm>
            <a:off x="7473461" y="2662995"/>
            <a:ext cx="38803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Search keys which are similar to a query, and return the corresponding values. </a:t>
            </a:r>
            <a:endParaRPr kumimoji="1" lang="ja-JP" altLang="en-US" sz="2400" b="1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8026EDB-9D93-4844-BF7F-96130F15ED2B}"/>
              </a:ext>
            </a:extLst>
          </p:cNvPr>
          <p:cNvSpPr/>
          <p:nvPr/>
        </p:nvSpPr>
        <p:spPr>
          <a:xfrm>
            <a:off x="7023397" y="5303715"/>
            <a:ext cx="47804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An attention function can be described as a </a:t>
            </a:r>
            <a:r>
              <a:rPr lang="en-US" altLang="ja-JP" sz="2400" b="1" dirty="0"/>
              <a:t>dictionary</a:t>
            </a:r>
            <a:r>
              <a:rPr lang="en-US" altLang="ja-JP" sz="2400" dirty="0"/>
              <a:t> object.</a:t>
            </a:r>
          </a:p>
        </p:txBody>
      </p:sp>
      <p:sp>
        <p:nvSpPr>
          <p:cNvPr id="5" name="下矢印 4">
            <a:extLst>
              <a:ext uri="{FF2B5EF4-FFF2-40B4-BE49-F238E27FC236}">
                <a16:creationId xmlns:a16="http://schemas.microsoft.com/office/drawing/2014/main" id="{EDA6B474-BC76-EE41-91F9-061A516510DE}"/>
              </a:ext>
            </a:extLst>
          </p:cNvPr>
          <p:cNvSpPr/>
          <p:nvPr/>
        </p:nvSpPr>
        <p:spPr>
          <a:xfrm>
            <a:off x="9188970" y="3868151"/>
            <a:ext cx="447399" cy="13368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9685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What is Attention?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7359" y="1825624"/>
                <a:ext cx="11261558" cy="4863933"/>
              </a:xfrm>
            </p:spPr>
            <p:txBody>
              <a:bodyPr>
                <a:normAutofit/>
              </a:bodyPr>
              <a:lstStyle/>
              <a:p>
                <a:r>
                  <a:rPr lang="en-US" altLang="ja-JP" dirty="0"/>
                  <a:t>Single query Attention : 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(vector, matrix, matrix)</a:t>
                </a:r>
                <a:r>
                  <a:rPr lang="en-US" altLang="ja-JP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ja-JP" dirty="0">
                    <a:solidFill>
                      <a:srgbClr val="FF0000"/>
                    </a:solidFill>
                  </a:rPr>
                  <a:t>vector</a:t>
                </a:r>
                <a:endParaRPr lang="en-US" altLang="ja-JP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𝑞𝑢𝑒𝑟𝑦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𝐾𝑒𝑦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𝑉𝑎𝑙𝑢𝑒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𝑞𝑢𝑒𝑟𝑦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𝐾𝑒</m:t>
                        </m:r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𝑉𝑎𝑙𝑢𝑒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pPr marL="0" indent="0">
                  <a:buNone/>
                </a:pPr>
                <a:endParaRPr lang="en-US" altLang="ja-JP" sz="3200" dirty="0"/>
              </a:p>
              <a:p>
                <a:r>
                  <a:rPr lang="en-US" altLang="ja-JP" sz="3200" dirty="0"/>
                  <a:t>We can input multiple queries at one time : </a:t>
                </a:r>
              </a:p>
              <a:p>
                <a:pPr marL="0" indent="0">
                  <a:buNone/>
                </a:pPr>
                <a:r>
                  <a:rPr lang="en-US" altLang="ja-JP" sz="3200" dirty="0">
                    <a:solidFill>
                      <a:srgbClr val="FF0000"/>
                    </a:solidFill>
                  </a:rPr>
                  <a:t>  (matrix, matrix, matrix)</a:t>
                </a:r>
                <a:r>
                  <a:rPr lang="en-US" altLang="ja-JP" sz="32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ja-JP" sz="3200" dirty="0">
                    <a:solidFill>
                      <a:srgbClr val="FF0000"/>
                    </a:solidFill>
                  </a:rPr>
                  <a:t>matrix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𝐴𝑡𝑡𝑒𝑛𝑡𝑖𝑜𝑛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𝑄𝑢𝑒𝑟𝑦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𝐾𝑒𝑦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𝑉𝑎𝑙𝑢𝑒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𝑢𝑒𝑟𝑦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𝐾𝑒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𝑉𝑎𝑙𝑢𝑒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pPr marL="0" indent="0" algn="ctr">
                  <a:buNone/>
                </a:pPr>
                <a:endParaRPr lang="en-US" altLang="ja-JP" dirty="0"/>
              </a:p>
              <a:p>
                <a:pPr marL="0" indent="0" algn="ctr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sz="3200" dirty="0"/>
              </a:p>
              <a:p>
                <a:endParaRPr lang="en-US" altLang="ja-JP" sz="3200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7359" y="1825624"/>
                <a:ext cx="11261558" cy="4863933"/>
              </a:xfrm>
              <a:blipFill>
                <a:blip r:embed="rId3"/>
                <a:stretch>
                  <a:fillRect l="-1240" t="-23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986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5208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Scaled Dot-Product Attention</a:t>
            </a:r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6FDA365-A3E1-A548-8751-2932B9672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9060" y="1034714"/>
            <a:ext cx="3892940" cy="4584032"/>
          </a:xfr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A58975B3-AD29-EF42-A446-D690937668FB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737936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ja-JP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コンテンツ プレースホルダー 2">
                <a:extLst>
                  <a:ext uri="{FF2B5EF4-FFF2-40B4-BE49-F238E27FC236}">
                    <a16:creationId xmlns:a16="http://schemas.microsoft.com/office/drawing/2014/main" id="{B6F68AA2-C142-5743-B532-73F77173A8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609056"/>
                <a:ext cx="7884696" cy="5248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ja-JP" sz="2800" dirty="0"/>
                  <a:t>There are two most commonly used attention functions : additive attention and dot-product attention.</a:t>
                </a:r>
              </a:p>
              <a:p>
                <a:pPr lvl="1"/>
                <a:r>
                  <a:rPr lang="en-US" altLang="ja-JP" dirty="0"/>
                  <a:t>Additive attention :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en-US" altLang="ja-JP" dirty="0"/>
                  <a:t>Dot-product attention :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dirty="0"/>
                  <a:t>	</a:t>
                </a:r>
              </a:p>
              <a:p>
                <a:r>
                  <a:rPr lang="en-US" altLang="ja-JP" dirty="0"/>
                  <a:t>Dot-product attention is much faster and space efficient.</a:t>
                </a:r>
              </a:p>
              <a:p>
                <a:r>
                  <a:rPr lang="en-US" altLang="ja-JP" dirty="0"/>
                  <a:t>They compute the attention as: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en-US" altLang="ja-JP" dirty="0"/>
                  <a:t>where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ja-JP" dirty="0"/>
                  <a:t> is the scaling factor preventing </a:t>
                </a:r>
                <a:r>
                  <a:rPr lang="en-US" altLang="ja-JP" dirty="0" err="1"/>
                  <a:t>softmax</a:t>
                </a:r>
                <a:r>
                  <a:rPr lang="en-US" altLang="ja-JP" dirty="0"/>
                  <a:t> function pushed into regions where it has extremely small gradients.</a:t>
                </a:r>
              </a:p>
              <a:p>
                <a:pPr lvl="1"/>
                <a:endParaRPr lang="en-US" altLang="ja-JP" dirty="0"/>
              </a:p>
            </p:txBody>
          </p:sp>
        </mc:Choice>
        <mc:Fallback xmlns="">
          <p:sp>
            <p:nvSpPr>
              <p:cNvPr id="7" name="コンテンツ プレースホルダー 2">
                <a:extLst>
                  <a:ext uri="{FF2B5EF4-FFF2-40B4-BE49-F238E27FC236}">
                    <a16:creationId xmlns:a16="http://schemas.microsoft.com/office/drawing/2014/main" id="{B6F68AA2-C142-5743-B532-73F77173A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09056"/>
                <a:ext cx="7884696" cy="5248944"/>
              </a:xfrm>
              <a:prstGeom prst="rect">
                <a:avLst/>
              </a:prstGeom>
              <a:blipFill>
                <a:blip r:embed="rId3"/>
                <a:stretch>
                  <a:fillRect l="-1447" t="-2657" r="-2733" b="-12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390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Multi-Head Attention</a:t>
            </a:r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A0EF6BC-00AD-B34C-94FA-886D2C49B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5963" y="806187"/>
            <a:ext cx="4153231" cy="531069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49AD4127-7B52-4E49-BD6D-C317A2BA3A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1825624"/>
                <a:ext cx="7531768" cy="47556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kumimoji="1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ja-JP" sz="2400" dirty="0"/>
                  <a:t>Instead of calculating single dot-product attention, they calculate multiple attentions. </a:t>
                </a:r>
                <a:r>
                  <a:rPr lang="en-US" altLang="ja-JP" sz="1800" dirty="0"/>
                  <a:t>(for example, h = 8)</a:t>
                </a:r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They linearly project Q, K, and V h-times with different projections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ja-JP" sz="2400" dirty="0"/>
                  <a:t> dimensions. (They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𝑀𝑢𝑙𝑡𝑖𝐻𝑒𝑎𝑑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𝐶𝑜𝑛𝑐𝑎𝑡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h𝑒𝑎</m:t>
                          </m:r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</m:oMath>
                  </m:oMathPara>
                </a14:m>
                <a:endParaRPr lang="en-US" altLang="ja-JP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h𝑒𝑎</m:t>
                      </m:r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sSubSup>
                        <m:sSub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Sup>
                        <m:sSub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2400" dirty="0"/>
              </a:p>
              <a:p>
                <a:pPr marL="0" indent="0">
                  <a:buNone/>
                </a:pPr>
                <a:endParaRPr lang="en-US" altLang="ja-JP" sz="2400" dirty="0"/>
              </a:p>
            </p:txBody>
          </p:sp>
        </mc:Choice>
        <mc:Fallback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49AD4127-7B52-4E49-BD6D-C317A2BA3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825624"/>
                <a:ext cx="7531768" cy="4755649"/>
              </a:xfrm>
              <a:prstGeom prst="rect">
                <a:avLst/>
              </a:prstGeom>
              <a:blipFill>
                <a:blip r:embed="rId3"/>
                <a:stretch>
                  <a:fillRect l="-1010" t="-2139" r="-23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A6F6E05-9E61-434A-AFAF-067095FE1F2A}"/>
              </a:ext>
            </a:extLst>
          </p:cNvPr>
          <p:cNvSpPr txBox="1"/>
          <p:nvPr/>
        </p:nvSpPr>
        <p:spPr>
          <a:xfrm>
            <a:off x="3865781" y="6294070"/>
            <a:ext cx="43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Parameter weight </a:t>
            </a:r>
            <a:r>
              <a:rPr lang="en" altLang="ja-JP" sz="2400" b="1" dirty="0"/>
              <a:t>matrices</a:t>
            </a:r>
            <a:endParaRPr kumimoji="1" lang="ja-JP" altLang="en-US" sz="2400" b="1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579AE41-CFB6-AD45-A77D-A82F2CDFC626}"/>
              </a:ext>
            </a:extLst>
          </p:cNvPr>
          <p:cNvCxnSpPr/>
          <p:nvPr/>
        </p:nvCxnSpPr>
        <p:spPr>
          <a:xfrm flipH="1" flipV="1">
            <a:off x="5472332" y="5489626"/>
            <a:ext cx="623668" cy="801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CEF0DDB-10BA-404A-8DDF-63809241810F}"/>
              </a:ext>
            </a:extLst>
          </p:cNvPr>
          <p:cNvCxnSpPr>
            <a:cxnSpLocks/>
          </p:cNvCxnSpPr>
          <p:nvPr/>
        </p:nvCxnSpPr>
        <p:spPr>
          <a:xfrm flipV="1">
            <a:off x="6096000" y="5489626"/>
            <a:ext cx="178191" cy="810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648725E-E643-C141-8C72-03DB714B42C1}"/>
              </a:ext>
            </a:extLst>
          </p:cNvPr>
          <p:cNvCxnSpPr>
            <a:cxnSpLocks/>
          </p:cNvCxnSpPr>
          <p:nvPr/>
        </p:nvCxnSpPr>
        <p:spPr>
          <a:xfrm flipV="1">
            <a:off x="6089959" y="5426323"/>
            <a:ext cx="901684" cy="865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91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2809" cy="1325563"/>
          </a:xfrm>
        </p:spPr>
        <p:txBody>
          <a:bodyPr/>
          <a:lstStyle/>
          <a:p>
            <a:r>
              <a:rPr kumimoji="1" lang="en-US" altLang="ja-JP" dirty="0"/>
              <a:t>Applications of Multi-Head Attention in model</a:t>
            </a:r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A0EF6BC-00AD-B34C-94FA-886D2C49B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1788" y="1934909"/>
            <a:ext cx="3739221" cy="4781300"/>
          </a:xfr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49AD4127-7B52-4E49-BD6D-C317A2BA3A5B}"/>
              </a:ext>
            </a:extLst>
          </p:cNvPr>
          <p:cNvSpPr txBox="1">
            <a:spLocks/>
          </p:cNvSpPr>
          <p:nvPr/>
        </p:nvSpPr>
        <p:spPr>
          <a:xfrm>
            <a:off x="685799" y="1825624"/>
            <a:ext cx="7928812" cy="4755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400" dirty="0"/>
              <a:t>Transformer uses multi-head attention in three ways.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rgbClr val="FF0000"/>
                </a:solidFill>
              </a:rPr>
              <a:t>encoder-decoder attention </a:t>
            </a:r>
            <a:r>
              <a:rPr lang="en-US" altLang="ja-JP" sz="2000" dirty="0"/>
              <a:t>: The queries(Q) come from the </a:t>
            </a:r>
            <a:r>
              <a:rPr lang="en-US" altLang="ja-JP" sz="2000" b="1" dirty="0"/>
              <a:t>previous decoder layer</a:t>
            </a:r>
            <a:r>
              <a:rPr lang="en-US" altLang="ja-JP" sz="2000" dirty="0"/>
              <a:t>, and keys(K) and values(V) come from the </a:t>
            </a:r>
            <a:r>
              <a:rPr lang="en-US" altLang="ja-JP" sz="2000" b="1" dirty="0"/>
              <a:t>output of the encoder</a:t>
            </a:r>
            <a:r>
              <a:rPr lang="en-US" altLang="ja-JP" sz="2000" dirty="0"/>
              <a:t>. (traditional attention mechanisms)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rgbClr val="FF0000"/>
                </a:solidFill>
              </a:rPr>
              <a:t>Self-attention layers in the encoder</a:t>
            </a:r>
            <a:r>
              <a:rPr lang="en-US" altLang="ja-JP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ja-JP" sz="2000" dirty="0"/>
              <a:t>: </a:t>
            </a:r>
            <a:r>
              <a:rPr lang="en" altLang="ja-JP" sz="2000" dirty="0"/>
              <a:t>All of the keys(K), values(V) and queries(Q) come from the same place, in this case, the </a:t>
            </a:r>
            <a:r>
              <a:rPr lang="en" altLang="ja-JP" sz="2000" b="1" dirty="0"/>
              <a:t>output of the previous layer in the encoder</a:t>
            </a:r>
            <a:r>
              <a:rPr lang="en" altLang="ja-JP" sz="2000" dirty="0"/>
              <a:t>.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>
                <a:solidFill>
                  <a:srgbClr val="FF0000"/>
                </a:solidFill>
              </a:rPr>
              <a:t>Self-attention layers in the decoder </a:t>
            </a:r>
            <a:r>
              <a:rPr lang="en-US" altLang="ja-JP" sz="2000" dirty="0"/>
              <a:t>: K,V,Q come from the </a:t>
            </a:r>
            <a:r>
              <a:rPr lang="en-US" altLang="ja-JP" sz="2000" b="1" dirty="0"/>
              <a:t>output of the previous layer in the decoder</a:t>
            </a:r>
            <a:r>
              <a:rPr lang="en-US" altLang="ja-JP" sz="2000" dirty="0"/>
              <a:t>. </a:t>
            </a:r>
            <a:r>
              <a:rPr lang="en" altLang="ja-JP" sz="2000" dirty="0"/>
              <a:t>We need to prevent leftward information flow in the decoder to preserve the auto-regressive property. </a:t>
            </a: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/>
          </a:p>
          <a:p>
            <a:pPr marL="0" indent="0">
              <a:buNone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21191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2809" cy="1325563"/>
          </a:xfrm>
        </p:spPr>
        <p:txBody>
          <a:bodyPr/>
          <a:lstStyle/>
          <a:p>
            <a:r>
              <a:rPr kumimoji="1" lang="en-US" altLang="ja-JP" dirty="0"/>
              <a:t>Data Flow in </a:t>
            </a:r>
            <a:r>
              <a:rPr lang="en-US" altLang="ja-JP" dirty="0"/>
              <a:t>Attention (Multi-Head)</a:t>
            </a:r>
            <a:endParaRPr kumimoji="1"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49AD4127-7B52-4E49-BD6D-C317A2BA3A5B}"/>
              </a:ext>
            </a:extLst>
          </p:cNvPr>
          <p:cNvSpPr txBox="1">
            <a:spLocks/>
          </p:cNvSpPr>
          <p:nvPr/>
        </p:nvSpPr>
        <p:spPr>
          <a:xfrm>
            <a:off x="685799" y="1825624"/>
            <a:ext cx="7928812" cy="4755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ja-JP" sz="2400" dirty="0"/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/>
          </a:p>
          <a:p>
            <a:pPr marL="0" indent="0">
              <a:buNone/>
            </a:pP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E2FEA2D-A3D5-304D-9EC3-747B167C7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19" y="1234294"/>
            <a:ext cx="10044331" cy="5623706"/>
          </a:xfrm>
          <a:prstGeom prst="rect">
            <a:avLst/>
          </a:prstGeom>
        </p:spPr>
      </p:pic>
      <p:sp>
        <p:nvSpPr>
          <p:cNvPr id="10" name="円/楕円 9">
            <a:extLst>
              <a:ext uri="{FF2B5EF4-FFF2-40B4-BE49-F238E27FC236}">
                <a16:creationId xmlns:a16="http://schemas.microsoft.com/office/drawing/2014/main" id="{81050372-5559-3F4E-BB1E-A3B3259637F1}"/>
              </a:ext>
            </a:extLst>
          </p:cNvPr>
          <p:cNvSpPr/>
          <p:nvPr/>
        </p:nvSpPr>
        <p:spPr>
          <a:xfrm>
            <a:off x="2672862" y="2152357"/>
            <a:ext cx="1308295" cy="13082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E5430553-8F4B-3848-85DC-7759A996CEE0}"/>
              </a:ext>
            </a:extLst>
          </p:cNvPr>
          <p:cNvSpPr/>
          <p:nvPr/>
        </p:nvSpPr>
        <p:spPr>
          <a:xfrm>
            <a:off x="2616124" y="5042247"/>
            <a:ext cx="1308295" cy="13082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524B0915-E553-2645-B898-B1575A582AED}"/>
              </a:ext>
            </a:extLst>
          </p:cNvPr>
          <p:cNvSpPr/>
          <p:nvPr/>
        </p:nvSpPr>
        <p:spPr>
          <a:xfrm>
            <a:off x="10063116" y="3734224"/>
            <a:ext cx="1308295" cy="1308295"/>
          </a:xfrm>
          <a:prstGeom prst="ellipse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EE2244A-7CCE-254F-B39A-1B6C34174D1F}"/>
              </a:ext>
            </a:extLst>
          </p:cNvPr>
          <p:cNvSpPr txBox="1"/>
          <p:nvPr/>
        </p:nvSpPr>
        <p:spPr>
          <a:xfrm>
            <a:off x="2813071" y="3460652"/>
            <a:ext cx="136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Input</a:t>
            </a:r>
            <a:endParaRPr kumimoji="1" lang="ja-JP" altLang="en-US" sz="2400" b="1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67EA4E1-02B1-814A-B026-E74DEECBE756}"/>
              </a:ext>
            </a:extLst>
          </p:cNvPr>
          <p:cNvSpPr txBox="1"/>
          <p:nvPr/>
        </p:nvSpPr>
        <p:spPr>
          <a:xfrm>
            <a:off x="10104150" y="5184216"/>
            <a:ext cx="136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Out</a:t>
            </a:r>
            <a:r>
              <a:rPr kumimoji="1" lang="en-US" altLang="ja-JP" sz="2400" b="1" dirty="0"/>
              <a:t>put</a:t>
            </a:r>
            <a:endParaRPr kumimoji="1" lang="ja-JP" altLang="en-US" sz="2400" b="1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6880ED-1C1C-4943-B6AC-D3229234A918}"/>
              </a:ext>
            </a:extLst>
          </p:cNvPr>
          <p:cNvSpPr txBox="1"/>
          <p:nvPr/>
        </p:nvSpPr>
        <p:spPr>
          <a:xfrm>
            <a:off x="5936331" y="57348"/>
            <a:ext cx="696350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1600" dirty="0"/>
              <a:t>Cited from : https://</a:t>
            </a:r>
            <a:r>
              <a:rPr lang="en" altLang="ja-JP" sz="1600" dirty="0" err="1"/>
              <a:t>jalammar.github.io</a:t>
            </a:r>
            <a:r>
              <a:rPr lang="en" altLang="ja-JP" sz="1600" dirty="0"/>
              <a:t>/illustrated-transformer/</a:t>
            </a:r>
            <a:endParaRPr lang="ja-JP" altLang="en-US" sz="160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8992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2809" cy="1325563"/>
          </a:xfrm>
        </p:spPr>
        <p:txBody>
          <a:bodyPr/>
          <a:lstStyle/>
          <a:p>
            <a:r>
              <a:rPr lang="en-US" altLang="ja-JP" dirty="0"/>
              <a:t>Self-Attention in Decoder</a:t>
            </a:r>
            <a:endParaRPr kumimoji="1"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49AD4127-7B52-4E49-BD6D-C317A2BA3A5B}"/>
              </a:ext>
            </a:extLst>
          </p:cNvPr>
          <p:cNvSpPr txBox="1">
            <a:spLocks/>
          </p:cNvSpPr>
          <p:nvPr/>
        </p:nvSpPr>
        <p:spPr>
          <a:xfrm>
            <a:off x="685799" y="1825624"/>
            <a:ext cx="10526152" cy="4755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" altLang="ja-JP" dirty="0">
                <a:solidFill>
                  <a:schemeClr val="accent5">
                    <a:lumMod val="75000"/>
                  </a:schemeClr>
                </a:solidFill>
              </a:rPr>
              <a:t>In the decoder</a:t>
            </a:r>
            <a:r>
              <a:rPr lang="en" altLang="ja-JP" dirty="0"/>
              <a:t>, the self-attention layer is only allowed to attend to earlier positions in the output sequence. This is done by masking future positions (setting them to -</a:t>
            </a:r>
            <a:r>
              <a:rPr lang="en" altLang="ja-JP" dirty="0" err="1"/>
              <a:t>inf</a:t>
            </a:r>
            <a:r>
              <a:rPr lang="en" altLang="ja-JP" dirty="0"/>
              <a:t>) before the </a:t>
            </a:r>
            <a:r>
              <a:rPr lang="en" altLang="ja-JP" dirty="0" err="1"/>
              <a:t>softmax</a:t>
            </a:r>
            <a:r>
              <a:rPr lang="en" altLang="ja-JP" dirty="0"/>
              <a:t> step in the self-attention calculation.</a:t>
            </a:r>
          </a:p>
          <a:p>
            <a:pPr fontAlgn="base"/>
            <a:endParaRPr lang="en" altLang="ja-JP" dirty="0"/>
          </a:p>
          <a:p>
            <a:pPr fontAlgn="base"/>
            <a:endParaRPr lang="en" altLang="ja-JP" dirty="0"/>
          </a:p>
          <a:p>
            <a:r>
              <a:rPr lang="en" altLang="ja-JP" dirty="0"/>
              <a:t>For example, if a sentence “</a:t>
            </a:r>
            <a:r>
              <a:rPr lang="en" altLang="ja-JP" dirty="0">
                <a:highlight>
                  <a:srgbClr val="00FF00"/>
                </a:highlight>
              </a:rPr>
              <a:t>I</a:t>
            </a:r>
            <a:r>
              <a:rPr lang="en" altLang="ja-JP" dirty="0"/>
              <a:t> </a:t>
            </a:r>
            <a:r>
              <a:rPr lang="en" altLang="ja-JP" dirty="0">
                <a:highlight>
                  <a:srgbClr val="00FF00"/>
                </a:highlight>
              </a:rPr>
              <a:t>play</a:t>
            </a:r>
            <a:r>
              <a:rPr lang="en" altLang="ja-JP" dirty="0"/>
              <a:t> </a:t>
            </a:r>
            <a:r>
              <a:rPr lang="en" altLang="ja-JP" dirty="0">
                <a:highlight>
                  <a:srgbClr val="FFFF00"/>
                </a:highlight>
              </a:rPr>
              <a:t>soccer</a:t>
            </a:r>
            <a:r>
              <a:rPr lang="en" altLang="ja-JP" dirty="0"/>
              <a:t> </a:t>
            </a:r>
            <a:r>
              <a:rPr lang="en" altLang="ja-JP" dirty="0">
                <a:highlight>
                  <a:srgbClr val="00FFFF"/>
                </a:highlight>
              </a:rPr>
              <a:t>in</a:t>
            </a:r>
            <a:r>
              <a:rPr lang="en" altLang="ja-JP" dirty="0"/>
              <a:t> </a:t>
            </a:r>
            <a:r>
              <a:rPr lang="en" altLang="ja-JP" dirty="0">
                <a:highlight>
                  <a:srgbClr val="00FFFF"/>
                </a:highlight>
              </a:rPr>
              <a:t>the</a:t>
            </a:r>
            <a:r>
              <a:rPr lang="en" altLang="ja-JP" dirty="0"/>
              <a:t> </a:t>
            </a:r>
            <a:r>
              <a:rPr lang="en" altLang="ja-JP" dirty="0">
                <a:highlight>
                  <a:srgbClr val="00FFFF"/>
                </a:highlight>
              </a:rPr>
              <a:t>morning</a:t>
            </a:r>
            <a:r>
              <a:rPr lang="en" altLang="ja-JP" dirty="0"/>
              <a:t>.” is given in the decoder, and we want to apply self-attention for  “</a:t>
            </a:r>
            <a:r>
              <a:rPr lang="en" altLang="ja-JP" dirty="0">
                <a:highlight>
                  <a:srgbClr val="FFFF00"/>
                </a:highlight>
              </a:rPr>
              <a:t>soccer</a:t>
            </a:r>
            <a:r>
              <a:rPr lang="en" altLang="ja-JP" dirty="0"/>
              <a:t>”</a:t>
            </a:r>
            <a:r>
              <a:rPr lang="ja-JP" altLang="en-US"/>
              <a:t> </a:t>
            </a:r>
            <a:r>
              <a:rPr lang="en-US" altLang="ja-JP" dirty="0"/>
              <a:t>(let “soccer” be a query)</a:t>
            </a:r>
            <a:r>
              <a:rPr lang="en" altLang="ja-JP" dirty="0"/>
              <a:t>, we can only attend “</a:t>
            </a:r>
            <a:r>
              <a:rPr lang="en" altLang="ja-JP" dirty="0">
                <a:highlight>
                  <a:srgbClr val="00FF00"/>
                </a:highlight>
              </a:rPr>
              <a:t>I</a:t>
            </a:r>
            <a:r>
              <a:rPr lang="en" altLang="ja-JP" dirty="0"/>
              <a:t>” and “</a:t>
            </a:r>
            <a:r>
              <a:rPr lang="en" altLang="ja-JP" dirty="0">
                <a:highlight>
                  <a:srgbClr val="00FF00"/>
                </a:highlight>
              </a:rPr>
              <a:t>play</a:t>
            </a:r>
            <a:r>
              <a:rPr lang="en" altLang="ja-JP" dirty="0"/>
              <a:t>” but cannot attend “</a:t>
            </a:r>
            <a:r>
              <a:rPr lang="en" altLang="ja-JP" dirty="0">
                <a:highlight>
                  <a:srgbClr val="00FFFF"/>
                </a:highlight>
              </a:rPr>
              <a:t>in</a:t>
            </a:r>
            <a:r>
              <a:rPr lang="en" altLang="ja-JP" dirty="0"/>
              <a:t>”, “</a:t>
            </a:r>
            <a:r>
              <a:rPr lang="en" altLang="ja-JP" dirty="0">
                <a:highlight>
                  <a:srgbClr val="00FFFF"/>
                </a:highlight>
              </a:rPr>
              <a:t>the</a:t>
            </a:r>
            <a:r>
              <a:rPr lang="en" altLang="ja-JP" dirty="0"/>
              <a:t>”, and “</a:t>
            </a:r>
            <a:r>
              <a:rPr lang="en" altLang="ja-JP" dirty="0">
                <a:highlight>
                  <a:srgbClr val="00FFFF"/>
                </a:highlight>
              </a:rPr>
              <a:t>morning</a:t>
            </a:r>
            <a:r>
              <a:rPr lang="en" altLang="ja-JP" dirty="0"/>
              <a:t>”.</a:t>
            </a:r>
            <a:br>
              <a:rPr lang="en" altLang="ja-JP" dirty="0"/>
            </a:b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/>
          </a:p>
          <a:p>
            <a:pPr marL="914400" lvl="1" indent="-457200">
              <a:buFont typeface="+mj-lt"/>
              <a:buAutoNum type="arabicPeriod"/>
            </a:pPr>
            <a:endParaRPr lang="en-US" altLang="ja-JP" sz="2000" dirty="0"/>
          </a:p>
          <a:p>
            <a:pPr marL="0" indent="0">
              <a:buNone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4779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Why Self-Attention?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84F04-56D0-864B-9645-7DC4D2AC0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11375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Total computational complexity per layer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The amount of compotation that can be parallelized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The path length be</a:t>
            </a:r>
            <a:r>
              <a:rPr lang="en-US" altLang="ja-JP" dirty="0"/>
              <a:t>tween long-range dependencies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(As side benefit, self-attention could yield more interpretable models.)</a:t>
            </a:r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A8B0756-23E6-DC44-83B3-317803711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692" y="4115665"/>
            <a:ext cx="8440615" cy="2643021"/>
          </a:xfrm>
          <a:prstGeom prst="rect">
            <a:avLst/>
          </a:prstGeom>
        </p:spPr>
      </p:pic>
      <p:sp>
        <p:nvSpPr>
          <p:cNvPr id="6" name="角丸四角形 5">
            <a:extLst>
              <a:ext uri="{FF2B5EF4-FFF2-40B4-BE49-F238E27FC236}">
                <a16:creationId xmlns:a16="http://schemas.microsoft.com/office/drawing/2014/main" id="{E7C009DE-36F2-DE46-A2AF-1FCC3C38061B}"/>
              </a:ext>
            </a:extLst>
          </p:cNvPr>
          <p:cNvSpPr/>
          <p:nvPr/>
        </p:nvSpPr>
        <p:spPr>
          <a:xfrm>
            <a:off x="2166425" y="5598942"/>
            <a:ext cx="7835704" cy="2391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894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17D74613-BE96-4B41-8DCD-2E904616B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6592" y="365125"/>
            <a:ext cx="5358815" cy="6391899"/>
          </a:xfr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A5A55E7-2166-5043-8E83-6FD07E9D43C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44E16044-FCAC-2741-B5A8-6CC4FE06DB39}"/>
              </a:ext>
            </a:extLst>
          </p:cNvPr>
          <p:cNvSpPr/>
          <p:nvPr/>
        </p:nvSpPr>
        <p:spPr>
          <a:xfrm>
            <a:off x="4149970" y="2700997"/>
            <a:ext cx="1840524" cy="1083213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9DC8E6FA-3B84-4842-8A60-045B188DF642}"/>
              </a:ext>
            </a:extLst>
          </p:cNvPr>
          <p:cNvSpPr/>
          <p:nvPr/>
        </p:nvSpPr>
        <p:spPr>
          <a:xfrm>
            <a:off x="6095999" y="1617784"/>
            <a:ext cx="1840524" cy="1083213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4E1E87-F179-7943-B039-9DCC0115F3CF}"/>
              </a:ext>
            </a:extLst>
          </p:cNvPr>
          <p:cNvSpPr txBox="1"/>
          <p:nvPr/>
        </p:nvSpPr>
        <p:spPr>
          <a:xfrm>
            <a:off x="239842" y="741432"/>
            <a:ext cx="5511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2</a:t>
            </a:r>
            <a:r>
              <a:rPr kumimoji="1" lang="en-US" altLang="ja-JP" sz="4000" dirty="0"/>
              <a:t>. Feed Forward Layer</a:t>
            </a:r>
            <a:endParaRPr kumimoji="1" lang="ja-JP" altLang="en-US" sz="4000"/>
          </a:p>
        </p:txBody>
      </p:sp>
    </p:spTree>
    <p:extLst>
      <p:ext uri="{BB962C8B-B14F-4D97-AF65-F5344CB8AC3E}">
        <p14:creationId xmlns:p14="http://schemas.microsoft.com/office/powerpoint/2010/main" val="1946854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Position-wise Feed-Forward Networks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Feed-forward networks are applied to </a:t>
                </a:r>
                <a:r>
                  <a:rPr lang="en-US" altLang="ja-JP" dirty="0"/>
                  <a:t>e</a:t>
                </a:r>
                <a:r>
                  <a:rPr kumimoji="1" lang="en-US" altLang="ja-JP" dirty="0"/>
                  <a:t>ach position separately.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𝐹𝐹𝑁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CF98313-8215-E94A-B1C3-F8E0CEA9506B}"/>
              </a:ext>
            </a:extLst>
          </p:cNvPr>
          <p:cNvSpPr/>
          <p:nvPr/>
        </p:nvSpPr>
        <p:spPr>
          <a:xfrm>
            <a:off x="1322362" y="3656979"/>
            <a:ext cx="4542695" cy="3081448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9881741-6B09-4A4E-ADFE-787924AD8733}"/>
              </a:ext>
            </a:extLst>
          </p:cNvPr>
          <p:cNvCxnSpPr/>
          <p:nvPr/>
        </p:nvCxnSpPr>
        <p:spPr>
          <a:xfrm>
            <a:off x="1322363" y="4051496"/>
            <a:ext cx="460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62F97C6-0B0B-ED43-9984-AD13333CFAA8}"/>
              </a:ext>
            </a:extLst>
          </p:cNvPr>
          <p:cNvCxnSpPr/>
          <p:nvPr/>
        </p:nvCxnSpPr>
        <p:spPr>
          <a:xfrm>
            <a:off x="1334670" y="4485248"/>
            <a:ext cx="460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4C43133-5C7F-F34B-B0BB-B32C1D88B0EF}"/>
              </a:ext>
            </a:extLst>
          </p:cNvPr>
          <p:cNvCxnSpPr/>
          <p:nvPr/>
        </p:nvCxnSpPr>
        <p:spPr>
          <a:xfrm>
            <a:off x="1322362" y="4989340"/>
            <a:ext cx="460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33F3BA4-8F84-FB4A-94F1-950793C1122A}"/>
              </a:ext>
            </a:extLst>
          </p:cNvPr>
          <p:cNvCxnSpPr/>
          <p:nvPr/>
        </p:nvCxnSpPr>
        <p:spPr>
          <a:xfrm>
            <a:off x="1334669" y="6324674"/>
            <a:ext cx="460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B6631D8-7E7B-E544-B88A-56C7B88FC4F4}"/>
              </a:ext>
            </a:extLst>
          </p:cNvPr>
          <p:cNvCxnSpPr/>
          <p:nvPr/>
        </p:nvCxnSpPr>
        <p:spPr>
          <a:xfrm>
            <a:off x="1334670" y="5416064"/>
            <a:ext cx="4542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2012D3D-EBA0-6A4F-B1F8-B9AC121C90DC}"/>
              </a:ext>
            </a:extLst>
          </p:cNvPr>
          <p:cNvCxnSpPr/>
          <p:nvPr/>
        </p:nvCxnSpPr>
        <p:spPr>
          <a:xfrm>
            <a:off x="1332322" y="5863887"/>
            <a:ext cx="4542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9127406-A9C3-C243-B8DC-899F0B0590DD}"/>
              </a:ext>
            </a:extLst>
          </p:cNvPr>
          <p:cNvSpPr txBox="1"/>
          <p:nvPr/>
        </p:nvSpPr>
        <p:spPr>
          <a:xfrm>
            <a:off x="3381517" y="3675106"/>
            <a:ext cx="979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x1</a:t>
            </a:r>
            <a:endParaRPr kumimoji="1" lang="ja-JP" altLang="en-US" sz="2400" b="1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55EE788-0C3F-A641-A0E9-D14425E60D89}"/>
              </a:ext>
            </a:extLst>
          </p:cNvPr>
          <p:cNvSpPr txBox="1"/>
          <p:nvPr/>
        </p:nvSpPr>
        <p:spPr>
          <a:xfrm>
            <a:off x="3393237" y="4066661"/>
            <a:ext cx="670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x2</a:t>
            </a:r>
            <a:endParaRPr kumimoji="1" lang="ja-JP" altLang="en-US" sz="2400" b="1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754F5EB-2798-CC47-8004-CE91AB1BE891}"/>
              </a:ext>
            </a:extLst>
          </p:cNvPr>
          <p:cNvSpPr txBox="1"/>
          <p:nvPr/>
        </p:nvSpPr>
        <p:spPr>
          <a:xfrm>
            <a:off x="3390889" y="4486347"/>
            <a:ext cx="735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x3</a:t>
            </a:r>
            <a:endParaRPr kumimoji="1" lang="ja-JP" altLang="en-US" sz="2400" b="1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2DB1A59-D52E-8D4F-9479-CF55EBE2C388}"/>
              </a:ext>
            </a:extLst>
          </p:cNvPr>
          <p:cNvSpPr txBox="1"/>
          <p:nvPr/>
        </p:nvSpPr>
        <p:spPr>
          <a:xfrm>
            <a:off x="3388545" y="4990440"/>
            <a:ext cx="737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x4</a:t>
            </a:r>
            <a:endParaRPr kumimoji="1" lang="ja-JP" altLang="en-US" sz="2400" b="1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AFD95CE-8D3A-2144-855B-CD4DBBF977C7}"/>
              </a:ext>
            </a:extLst>
          </p:cNvPr>
          <p:cNvSpPr txBox="1"/>
          <p:nvPr/>
        </p:nvSpPr>
        <p:spPr>
          <a:xfrm>
            <a:off x="3400266" y="5410128"/>
            <a:ext cx="928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x5</a:t>
            </a:r>
            <a:endParaRPr kumimoji="1" lang="ja-JP" altLang="en-US" sz="2400" b="1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92CE436-CFD3-3346-8FC0-03B1264AC570}"/>
              </a:ext>
            </a:extLst>
          </p:cNvPr>
          <p:cNvSpPr txBox="1"/>
          <p:nvPr/>
        </p:nvSpPr>
        <p:spPr>
          <a:xfrm>
            <a:off x="3383854" y="5843881"/>
            <a:ext cx="785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x6</a:t>
            </a:r>
            <a:endParaRPr kumimoji="1" lang="ja-JP" altLang="en-US" sz="2400" b="1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2B016E3-E9E6-FD43-A3A8-BDDE3A10879F}"/>
              </a:ext>
            </a:extLst>
          </p:cNvPr>
          <p:cNvSpPr txBox="1"/>
          <p:nvPr/>
        </p:nvSpPr>
        <p:spPr>
          <a:xfrm>
            <a:off x="3423710" y="6277637"/>
            <a:ext cx="1017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x7</a:t>
            </a:r>
            <a:endParaRPr kumimoji="1" lang="ja-JP" altLang="en-US" sz="2400" b="1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5E603DC-580F-C647-A6E4-1992FA879467}"/>
              </a:ext>
            </a:extLst>
          </p:cNvPr>
          <p:cNvSpPr txBox="1"/>
          <p:nvPr/>
        </p:nvSpPr>
        <p:spPr>
          <a:xfrm>
            <a:off x="179057" y="3639390"/>
            <a:ext cx="1248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word1</a:t>
            </a:r>
            <a:endParaRPr kumimoji="1" lang="ja-JP" altLang="en-US" sz="2400" b="1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CA2F545-9D3E-6E4D-8285-3700138C6229}"/>
              </a:ext>
            </a:extLst>
          </p:cNvPr>
          <p:cNvSpPr txBox="1"/>
          <p:nvPr/>
        </p:nvSpPr>
        <p:spPr>
          <a:xfrm>
            <a:off x="1332322" y="3227284"/>
            <a:ext cx="4532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Embedding dimension (512)</a:t>
            </a:r>
            <a:endParaRPr kumimoji="1" lang="ja-JP" altLang="en-US" sz="2400" b="1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9347B4C-AC78-2844-AE96-D61EB1ECB45C}"/>
              </a:ext>
            </a:extLst>
          </p:cNvPr>
          <p:cNvSpPr/>
          <p:nvPr/>
        </p:nvSpPr>
        <p:spPr>
          <a:xfrm>
            <a:off x="7144045" y="3654631"/>
            <a:ext cx="4542695" cy="3081448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41F2344-7183-A445-B26A-AEE800026711}"/>
              </a:ext>
            </a:extLst>
          </p:cNvPr>
          <p:cNvCxnSpPr/>
          <p:nvPr/>
        </p:nvCxnSpPr>
        <p:spPr>
          <a:xfrm>
            <a:off x="7144046" y="4049148"/>
            <a:ext cx="460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1417396-F70A-234A-BFF8-420174E22B46}"/>
              </a:ext>
            </a:extLst>
          </p:cNvPr>
          <p:cNvCxnSpPr/>
          <p:nvPr/>
        </p:nvCxnSpPr>
        <p:spPr>
          <a:xfrm>
            <a:off x="7156353" y="4482900"/>
            <a:ext cx="460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C67EC8E-E135-5340-AF5C-E871D3F7365D}"/>
              </a:ext>
            </a:extLst>
          </p:cNvPr>
          <p:cNvCxnSpPr/>
          <p:nvPr/>
        </p:nvCxnSpPr>
        <p:spPr>
          <a:xfrm>
            <a:off x="7144045" y="4986992"/>
            <a:ext cx="460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7C5864F8-D90E-224E-BEE3-4FAC303100B7}"/>
              </a:ext>
            </a:extLst>
          </p:cNvPr>
          <p:cNvCxnSpPr/>
          <p:nvPr/>
        </p:nvCxnSpPr>
        <p:spPr>
          <a:xfrm>
            <a:off x="7156352" y="6322326"/>
            <a:ext cx="460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4E97E3F-0DF2-F54F-9548-C5F8A71D82F7}"/>
              </a:ext>
            </a:extLst>
          </p:cNvPr>
          <p:cNvCxnSpPr/>
          <p:nvPr/>
        </p:nvCxnSpPr>
        <p:spPr>
          <a:xfrm>
            <a:off x="7156353" y="5413716"/>
            <a:ext cx="4542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22056AD9-1FC0-4A4E-9425-7967BDA0652D}"/>
              </a:ext>
            </a:extLst>
          </p:cNvPr>
          <p:cNvCxnSpPr/>
          <p:nvPr/>
        </p:nvCxnSpPr>
        <p:spPr>
          <a:xfrm>
            <a:off x="7154005" y="5861539"/>
            <a:ext cx="4542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1115D1E-4FCA-D140-A223-97FCC86F9E64}"/>
                  </a:ext>
                </a:extLst>
              </p:cNvPr>
              <p:cNvSpPr txBox="1"/>
              <p:nvPr/>
            </p:nvSpPr>
            <p:spPr>
              <a:xfrm>
                <a:off x="7213794" y="3672758"/>
                <a:ext cx="44729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1115D1E-4FCA-D140-A223-97FCC86F9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794" y="3672758"/>
                <a:ext cx="447294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右矢印 39">
            <a:extLst>
              <a:ext uri="{FF2B5EF4-FFF2-40B4-BE49-F238E27FC236}">
                <a16:creationId xmlns:a16="http://schemas.microsoft.com/office/drawing/2014/main" id="{F8CA9CCC-AE34-6341-9952-D85C63926F37}"/>
              </a:ext>
            </a:extLst>
          </p:cNvPr>
          <p:cNvSpPr/>
          <p:nvPr/>
        </p:nvSpPr>
        <p:spPr>
          <a:xfrm>
            <a:off x="6096000" y="4986992"/>
            <a:ext cx="881575" cy="37858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121EB33F-51E5-1247-9730-F652F9903584}"/>
                  </a:ext>
                </a:extLst>
              </p:cNvPr>
              <p:cNvSpPr txBox="1"/>
              <p:nvPr/>
            </p:nvSpPr>
            <p:spPr>
              <a:xfrm>
                <a:off x="7213793" y="4035306"/>
                <a:ext cx="44729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121EB33F-51E5-1247-9730-F652F9903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793" y="4035306"/>
                <a:ext cx="447294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338B8647-350E-4F49-930D-4018F988EB37}"/>
                  </a:ext>
                </a:extLst>
              </p:cNvPr>
              <p:cNvSpPr txBox="1"/>
              <p:nvPr/>
            </p:nvSpPr>
            <p:spPr>
              <a:xfrm>
                <a:off x="7221123" y="4986760"/>
                <a:ext cx="44729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338B8647-350E-4F49-930D-4018F988E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123" y="4986760"/>
                <a:ext cx="447294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36E24FD1-F6C2-6F49-B31E-63AD01E64CF2}"/>
                  </a:ext>
                </a:extLst>
              </p:cNvPr>
              <p:cNvSpPr txBox="1"/>
              <p:nvPr/>
            </p:nvSpPr>
            <p:spPr>
              <a:xfrm>
                <a:off x="7242514" y="4485983"/>
                <a:ext cx="44729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36E24FD1-F6C2-6F49-B31E-63AD01E64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514" y="4485983"/>
                <a:ext cx="447294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AEBCAA9-EB81-C943-B040-BDB2AABE9D50}"/>
                  </a:ext>
                </a:extLst>
              </p:cNvPr>
              <p:cNvSpPr txBox="1"/>
              <p:nvPr/>
            </p:nvSpPr>
            <p:spPr>
              <a:xfrm>
                <a:off x="7228154" y="6291671"/>
                <a:ext cx="44729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AEBCAA9-EB81-C943-B040-BDB2AABE9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154" y="6291671"/>
                <a:ext cx="447294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9CD4C336-06B6-F248-853D-4297E4004A46}"/>
                  </a:ext>
                </a:extLst>
              </p:cNvPr>
              <p:cNvSpPr txBox="1"/>
              <p:nvPr/>
            </p:nvSpPr>
            <p:spPr>
              <a:xfrm>
                <a:off x="7218774" y="5827703"/>
                <a:ext cx="44729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9CD4C336-06B6-F248-853D-4297E4004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774" y="5827703"/>
                <a:ext cx="447294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A5844BF1-0217-234A-B990-592AD4E3884A}"/>
                  </a:ext>
                </a:extLst>
              </p:cNvPr>
              <p:cNvSpPr txBox="1"/>
              <p:nvPr/>
            </p:nvSpPr>
            <p:spPr>
              <a:xfrm>
                <a:off x="7272113" y="5391029"/>
                <a:ext cx="44729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A5844BF1-0217-234A-B990-592AD4E38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113" y="5391029"/>
                <a:ext cx="447294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7252F35-186D-9945-BCD0-7ECE81CF1FCD}"/>
              </a:ext>
            </a:extLst>
          </p:cNvPr>
          <p:cNvSpPr txBox="1"/>
          <p:nvPr/>
        </p:nvSpPr>
        <p:spPr>
          <a:xfrm>
            <a:off x="8213781" y="3182412"/>
            <a:ext cx="2843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dimension (512)</a:t>
            </a:r>
            <a:endParaRPr kumimoji="1" lang="ja-JP" altLang="en-US" sz="2400" b="1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B3049C0-7E94-FE44-9D28-B10FB463C08C}"/>
              </a:ext>
            </a:extLst>
          </p:cNvPr>
          <p:cNvSpPr txBox="1"/>
          <p:nvPr/>
        </p:nvSpPr>
        <p:spPr>
          <a:xfrm>
            <a:off x="164989" y="4114794"/>
            <a:ext cx="1248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word2</a:t>
            </a:r>
            <a:endParaRPr kumimoji="1" lang="ja-JP" altLang="en-US" sz="2400" b="1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9B26DE5-302F-DE43-8990-CC34D45932EE}"/>
              </a:ext>
            </a:extLst>
          </p:cNvPr>
          <p:cNvSpPr txBox="1"/>
          <p:nvPr/>
        </p:nvSpPr>
        <p:spPr>
          <a:xfrm>
            <a:off x="109159" y="4576459"/>
            <a:ext cx="1248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word3</a:t>
            </a:r>
            <a:endParaRPr kumimoji="1" lang="ja-JP" altLang="en-US" sz="2400" b="1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FAB8D82C-AC08-3F4B-91A7-7B2B389436D3}"/>
              </a:ext>
            </a:extLst>
          </p:cNvPr>
          <p:cNvSpPr txBox="1"/>
          <p:nvPr/>
        </p:nvSpPr>
        <p:spPr>
          <a:xfrm>
            <a:off x="135256" y="5038124"/>
            <a:ext cx="1248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word4</a:t>
            </a:r>
            <a:endParaRPr kumimoji="1" lang="ja-JP" altLang="en-US" sz="2400" b="1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E9EA465-D018-5048-865A-69B6A592EA23}"/>
              </a:ext>
            </a:extLst>
          </p:cNvPr>
          <p:cNvSpPr txBox="1"/>
          <p:nvPr/>
        </p:nvSpPr>
        <p:spPr>
          <a:xfrm>
            <a:off x="132909" y="5461580"/>
            <a:ext cx="1248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word5</a:t>
            </a:r>
            <a:endParaRPr kumimoji="1" lang="ja-JP" altLang="en-US" sz="2400" b="1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0024F06-B9B3-B242-A668-C4F0ACA0E285}"/>
              </a:ext>
            </a:extLst>
          </p:cNvPr>
          <p:cNvSpPr txBox="1"/>
          <p:nvPr/>
        </p:nvSpPr>
        <p:spPr>
          <a:xfrm>
            <a:off x="129547" y="6346226"/>
            <a:ext cx="1248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word7</a:t>
            </a:r>
            <a:endParaRPr kumimoji="1" lang="ja-JP" altLang="en-US" sz="2400" b="1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92526FC-DD30-904C-945D-D60387F39518}"/>
              </a:ext>
            </a:extLst>
          </p:cNvPr>
          <p:cNvSpPr txBox="1"/>
          <p:nvPr/>
        </p:nvSpPr>
        <p:spPr>
          <a:xfrm>
            <a:off x="141250" y="5947611"/>
            <a:ext cx="1248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word6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190695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17D74613-BE96-4B41-8DCD-2E904616B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6592" y="365125"/>
            <a:ext cx="5358815" cy="6391899"/>
          </a:xfr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A5A55E7-2166-5043-8E83-6FD07E9D43C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44E16044-FCAC-2741-B5A8-6CC4FE06DB39}"/>
              </a:ext>
            </a:extLst>
          </p:cNvPr>
          <p:cNvSpPr/>
          <p:nvPr/>
        </p:nvSpPr>
        <p:spPr>
          <a:xfrm>
            <a:off x="3263705" y="4867422"/>
            <a:ext cx="2832294" cy="562707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7138FAEC-75E9-FA4A-B4CD-D8E3968B3A2C}"/>
              </a:ext>
            </a:extLst>
          </p:cNvPr>
          <p:cNvSpPr/>
          <p:nvPr/>
        </p:nvSpPr>
        <p:spPr>
          <a:xfrm>
            <a:off x="6248886" y="4923693"/>
            <a:ext cx="2832294" cy="562707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90966B-7BA7-2F47-A39C-A695A674E3C2}"/>
              </a:ext>
            </a:extLst>
          </p:cNvPr>
          <p:cNvSpPr txBox="1"/>
          <p:nvPr/>
        </p:nvSpPr>
        <p:spPr>
          <a:xfrm>
            <a:off x="584616" y="689548"/>
            <a:ext cx="5511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3</a:t>
            </a:r>
            <a:r>
              <a:rPr kumimoji="1" lang="en-US" altLang="ja-JP" sz="4000" dirty="0"/>
              <a:t>. Positional Encoding</a:t>
            </a:r>
            <a:endParaRPr kumimoji="1" lang="ja-JP" altLang="en-US" sz="4000"/>
          </a:p>
        </p:txBody>
      </p:sp>
    </p:spTree>
    <p:extLst>
      <p:ext uri="{BB962C8B-B14F-4D97-AF65-F5344CB8AC3E}">
        <p14:creationId xmlns:p14="http://schemas.microsoft.com/office/powerpoint/2010/main" val="1105661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Positional Encoding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43987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ja-JP" dirty="0"/>
                  <a:t>Since their model doesn’t contain recurrence and convolution, it is needed to inject some </a:t>
                </a:r>
                <a:r>
                  <a:rPr kumimoji="1" lang="en-US" altLang="ja-JP" b="1" dirty="0"/>
                  <a:t>information about the position of the tokens in the sequence</a:t>
                </a:r>
                <a:r>
                  <a:rPr kumimoji="1" lang="en-US" altLang="ja-JP" dirty="0"/>
                  <a:t>.</a:t>
                </a:r>
              </a:p>
              <a:p>
                <a:r>
                  <a:rPr lang="en-US" altLang="ja-JP" dirty="0"/>
                  <a:t>So they add “positional encoding” to input embedding.</a:t>
                </a:r>
              </a:p>
              <a:p>
                <a:r>
                  <a:rPr lang="en-US" altLang="ja-JP" dirty="0"/>
                  <a:t>Each element of PE is as following :</a:t>
                </a:r>
              </a:p>
              <a:p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𝑃𝐸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10000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𝑚𝑜𝑑𝑒𝑙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𝑃𝐸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10000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𝑚𝑜𝑑𝑒𝑙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kumimoji="1"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𝑝𝑜𝑠</m:t>
                    </m:r>
                  </m:oMath>
                </a14:m>
                <a:r>
                  <a:rPr kumimoji="1" lang="en-US" altLang="ja-JP" dirty="0"/>
                  <a:t> is the location of the word,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ja-JP" dirty="0"/>
                  <a:t> is the index of dimension in word embedding.</a:t>
                </a:r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43987"/>
              </a:xfrm>
              <a:blipFill>
                <a:blip r:embed="rId2"/>
                <a:stretch>
                  <a:fillRect l="-965" t="-2413" r="-25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909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Positional Encoding</a:t>
            </a:r>
            <a:endParaRPr kumimoji="1" lang="ja-JP" altLang="en-US"/>
          </a:p>
        </p:txBody>
      </p:sp>
      <p:pic>
        <p:nvPicPr>
          <p:cNvPr id="10" name="コンテンツ プレースホルダー 9">
            <a:extLst>
              <a:ext uri="{FF2B5EF4-FFF2-40B4-BE49-F238E27FC236}">
                <a16:creationId xmlns:a16="http://schemas.microsoft.com/office/drawing/2014/main" id="{96435AB9-C5E4-D44E-BD7E-6A7BE3063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4800" y="2213950"/>
            <a:ext cx="6502400" cy="3619500"/>
          </a:xfrm>
        </p:spPr>
      </p:pic>
      <p:sp>
        <p:nvSpPr>
          <p:cNvPr id="6" name="上矢印 5">
            <a:extLst>
              <a:ext uri="{FF2B5EF4-FFF2-40B4-BE49-F238E27FC236}">
                <a16:creationId xmlns:a16="http://schemas.microsoft.com/office/drawing/2014/main" id="{953D5742-F73B-E848-894C-391DCD0BD4E4}"/>
              </a:ext>
            </a:extLst>
          </p:cNvPr>
          <p:cNvSpPr/>
          <p:nvPr/>
        </p:nvSpPr>
        <p:spPr>
          <a:xfrm>
            <a:off x="9411286" y="1989331"/>
            <a:ext cx="914400" cy="406873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ja-JP" sz="3200" b="1" dirty="0"/>
              <a:t>-1.0 ~ +1.0</a:t>
            </a:r>
            <a:endParaRPr kumimoji="1" lang="ja-JP" altLang="en-US" sz="3200" b="1"/>
          </a:p>
        </p:txBody>
      </p:sp>
      <p:sp>
        <p:nvSpPr>
          <p:cNvPr id="7" name="上矢印 6">
            <a:extLst>
              <a:ext uri="{FF2B5EF4-FFF2-40B4-BE49-F238E27FC236}">
                <a16:creationId xmlns:a16="http://schemas.microsoft.com/office/drawing/2014/main" id="{4F5F8B49-7453-0343-A33D-6E498BE3785F}"/>
              </a:ext>
            </a:extLst>
          </p:cNvPr>
          <p:cNvSpPr/>
          <p:nvPr/>
        </p:nvSpPr>
        <p:spPr>
          <a:xfrm rot="10800000">
            <a:off x="1651908" y="1989331"/>
            <a:ext cx="914400" cy="406873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kumimoji="1" lang="en-US" altLang="ja-JP" sz="2400" b="1" dirty="0"/>
              <a:t>Word index in sequence</a:t>
            </a:r>
            <a:endParaRPr kumimoji="1" lang="ja-JP" altLang="en-US" sz="2400" b="1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A9A8A316-DD18-8D4C-9C5D-88065D7917AF}"/>
              </a:ext>
            </a:extLst>
          </p:cNvPr>
          <p:cNvSpPr/>
          <p:nvPr/>
        </p:nvSpPr>
        <p:spPr>
          <a:xfrm>
            <a:off x="3421749" y="6209640"/>
            <a:ext cx="4842064" cy="648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/>
              <a:t>Dimension in embedding vector</a:t>
            </a:r>
            <a:endParaRPr kumimoji="1" lang="ja-JP" altLang="en-US" sz="2000" b="1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8F88EE-9FDF-7C4C-AA87-A196C7FAD536}"/>
              </a:ext>
            </a:extLst>
          </p:cNvPr>
          <p:cNvSpPr txBox="1"/>
          <p:nvPr/>
        </p:nvSpPr>
        <p:spPr>
          <a:xfrm>
            <a:off x="5936331" y="57348"/>
            <a:ext cx="6147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1600" dirty="0"/>
              <a:t>Cited from : https://</a:t>
            </a:r>
            <a:r>
              <a:rPr lang="en" altLang="ja-JP" sz="1600" dirty="0" err="1"/>
              <a:t>github.com</a:t>
            </a:r>
            <a:r>
              <a:rPr lang="en" altLang="ja-JP" sz="1600" dirty="0"/>
              <a:t>/</a:t>
            </a:r>
            <a:r>
              <a:rPr lang="en" altLang="ja-JP" sz="1600" dirty="0" err="1"/>
              <a:t>soskek</a:t>
            </a:r>
            <a:r>
              <a:rPr lang="en" altLang="ja-JP" sz="1600" dirty="0"/>
              <a:t>/</a:t>
            </a:r>
            <a:r>
              <a:rPr lang="en" altLang="ja-JP" sz="1600" dirty="0" err="1"/>
              <a:t>attention_is_all_you_need</a:t>
            </a:r>
            <a:r>
              <a:rPr lang="en" altLang="ja-JP" sz="1600" dirty="0"/>
              <a:t>/blob/master/</a:t>
            </a:r>
            <a:r>
              <a:rPr lang="en" altLang="ja-JP" sz="1600" dirty="0" err="1"/>
              <a:t>Observe_Position_Encoding.ipynb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3623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Positional Encoding</a:t>
            </a:r>
            <a:endParaRPr kumimoji="1" lang="ja-JP" altLang="en-US"/>
          </a:p>
        </p:txBody>
      </p:sp>
      <p:pic>
        <p:nvPicPr>
          <p:cNvPr id="14" name="コンテンツ プレースホルダー 13">
            <a:extLst>
              <a:ext uri="{FF2B5EF4-FFF2-40B4-BE49-F238E27FC236}">
                <a16:creationId xmlns:a16="http://schemas.microsoft.com/office/drawing/2014/main" id="{B306CA4A-F0DD-3240-8429-318F1E684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9360" y="1690688"/>
            <a:ext cx="9203086" cy="5075137"/>
          </a:xfr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3E04DF0-DA39-9A4C-AE5A-7BFD5B23D3E0}"/>
              </a:ext>
            </a:extLst>
          </p:cNvPr>
          <p:cNvSpPr txBox="1"/>
          <p:nvPr/>
        </p:nvSpPr>
        <p:spPr>
          <a:xfrm>
            <a:off x="5936331" y="57348"/>
            <a:ext cx="696350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1600" dirty="0"/>
              <a:t>Cited from : https://</a:t>
            </a:r>
            <a:r>
              <a:rPr lang="en" altLang="ja-JP" sz="1600" dirty="0" err="1"/>
              <a:t>jalammar.github.io</a:t>
            </a:r>
            <a:r>
              <a:rPr lang="en" altLang="ja-JP" sz="1600" dirty="0"/>
              <a:t>/illustrated-transformer/</a:t>
            </a:r>
            <a:endParaRPr lang="ja-JP" altLang="en-US" sz="160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9066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17D74613-BE96-4B41-8DCD-2E904616B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6592" y="365125"/>
            <a:ext cx="5358815" cy="6391899"/>
          </a:xfr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A5A55E7-2166-5043-8E83-6FD07E9D43C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7138FAEC-75E9-FA4A-B4CD-D8E3968B3A2C}"/>
              </a:ext>
            </a:extLst>
          </p:cNvPr>
          <p:cNvSpPr/>
          <p:nvPr/>
        </p:nvSpPr>
        <p:spPr>
          <a:xfrm>
            <a:off x="5605147" y="860913"/>
            <a:ext cx="2832294" cy="769301"/>
          </a:xfrm>
          <a:prstGeom prst="roundRect">
            <a:avLst/>
          </a:prstGeom>
          <a:noFill/>
          <a:ln w="793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96DECF-BB7C-2941-A025-3D8CE112FBB0}"/>
              </a:ext>
            </a:extLst>
          </p:cNvPr>
          <p:cNvSpPr txBox="1"/>
          <p:nvPr/>
        </p:nvSpPr>
        <p:spPr>
          <a:xfrm>
            <a:off x="194872" y="153027"/>
            <a:ext cx="6145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4</a:t>
            </a:r>
            <a:r>
              <a:rPr kumimoji="1" lang="en-US" altLang="ja-JP" sz="4000" dirty="0"/>
              <a:t>. FC and </a:t>
            </a:r>
            <a:r>
              <a:rPr kumimoji="1" lang="en-US" altLang="ja-JP" sz="4000" dirty="0" err="1"/>
              <a:t>Softmax</a:t>
            </a:r>
            <a:r>
              <a:rPr kumimoji="1" lang="en-US" altLang="ja-JP" sz="4000" dirty="0"/>
              <a:t> layer</a:t>
            </a:r>
            <a:endParaRPr kumimoji="1" lang="ja-JP" altLang="en-US" sz="4000"/>
          </a:p>
        </p:txBody>
      </p:sp>
    </p:spTree>
    <p:extLst>
      <p:ext uri="{BB962C8B-B14F-4D97-AF65-F5344CB8AC3E}">
        <p14:creationId xmlns:p14="http://schemas.microsoft.com/office/powerpoint/2010/main" val="1817660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Final FC and </a:t>
            </a:r>
            <a:r>
              <a:rPr kumimoji="1" lang="en-US" altLang="ja-JP" dirty="0" err="1"/>
              <a:t>softmax</a:t>
            </a:r>
            <a:r>
              <a:rPr kumimoji="1" lang="en-US" altLang="ja-JP" dirty="0"/>
              <a:t> layer</a:t>
            </a:r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4F6EF981-C14E-CE49-9731-7EC9D0D37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985" y="1502067"/>
            <a:ext cx="7778030" cy="5021261"/>
          </a:xfr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2F93F3-B086-DE44-822E-5DF2F5673989}"/>
              </a:ext>
            </a:extLst>
          </p:cNvPr>
          <p:cNvSpPr txBox="1"/>
          <p:nvPr/>
        </p:nvSpPr>
        <p:spPr>
          <a:xfrm>
            <a:off x="5936331" y="57348"/>
            <a:ext cx="696350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1600" dirty="0"/>
              <a:t>Cited from : https://</a:t>
            </a:r>
            <a:r>
              <a:rPr lang="en" altLang="ja-JP" sz="1600" dirty="0" err="1"/>
              <a:t>jalammar.github.io</a:t>
            </a:r>
            <a:r>
              <a:rPr lang="en" altLang="ja-JP" sz="1600" dirty="0"/>
              <a:t>/illustrated-transformer/</a:t>
            </a:r>
            <a:endParaRPr lang="ja-JP" altLang="en-US" sz="160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385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Using Beam-search in selecting model prediction</a:t>
            </a:r>
            <a:endParaRPr lang="ja-JP" altLang="en-US" sz="3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84F04-56D0-864B-9645-7DC4D2AC0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When selecting model output, we can take the word with the highest probability and throw away the rest word </a:t>
            </a:r>
            <a:r>
              <a:rPr kumimoji="1" lang="en" altLang="ja-JP" dirty="0"/>
              <a:t>ca</a:t>
            </a:r>
            <a:r>
              <a:rPr lang="en" altLang="ja-JP" dirty="0"/>
              <a:t>ndidates. : </a:t>
            </a:r>
            <a:r>
              <a:rPr lang="en" altLang="ja-JP" b="1" dirty="0"/>
              <a:t>greedy decoding</a:t>
            </a:r>
          </a:p>
          <a:p>
            <a:endParaRPr lang="en" altLang="ja-JP" b="1" dirty="0"/>
          </a:p>
          <a:p>
            <a:endParaRPr lang="en" altLang="ja-JP" dirty="0"/>
          </a:p>
          <a:p>
            <a:r>
              <a:rPr lang="en" altLang="ja-JP" dirty="0"/>
              <a:t>Another way to select model output is </a:t>
            </a:r>
            <a:r>
              <a:rPr lang="en" altLang="ja-JP" b="1" dirty="0"/>
              <a:t>beam-search</a:t>
            </a:r>
            <a:r>
              <a:rPr lang="en" altLang="ja-JP" dirty="0"/>
              <a:t>.</a:t>
            </a:r>
          </a:p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FA7E931-490E-814D-9E8E-0EA4AC0CE8BD}"/>
              </a:ext>
            </a:extLst>
          </p:cNvPr>
          <p:cNvSpPr/>
          <p:nvPr/>
        </p:nvSpPr>
        <p:spPr>
          <a:xfrm>
            <a:off x="9214338" y="2715063"/>
            <a:ext cx="2700997" cy="562708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0.1      0.2      0.1     </a:t>
            </a:r>
            <a:r>
              <a:rPr lang="en-US" altLang="ja-JP" sz="2400" b="1" dirty="0">
                <a:solidFill>
                  <a:schemeClr val="tx1"/>
                </a:solidFill>
              </a:rPr>
              <a:t>0.6</a:t>
            </a:r>
            <a:endParaRPr kumimoji="1" lang="ja-JP" altLang="en-US" b="1">
              <a:solidFill>
                <a:schemeClr val="tx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2C9EDC9-B2C7-614B-B802-92464DB63C4E}"/>
              </a:ext>
            </a:extLst>
          </p:cNvPr>
          <p:cNvCxnSpPr/>
          <p:nvPr/>
        </p:nvCxnSpPr>
        <p:spPr>
          <a:xfrm>
            <a:off x="9861452" y="2729131"/>
            <a:ext cx="0" cy="520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CAD94FD9-EA40-894A-B7FA-A7DFCFA7C29F}"/>
              </a:ext>
            </a:extLst>
          </p:cNvPr>
          <p:cNvCxnSpPr/>
          <p:nvPr/>
        </p:nvCxnSpPr>
        <p:spPr>
          <a:xfrm>
            <a:off x="10548425" y="2729131"/>
            <a:ext cx="0" cy="520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C2281DB-FFC1-CF42-A3DB-C4BAA7CB5445}"/>
              </a:ext>
            </a:extLst>
          </p:cNvPr>
          <p:cNvCxnSpPr/>
          <p:nvPr/>
        </p:nvCxnSpPr>
        <p:spPr>
          <a:xfrm>
            <a:off x="11235397" y="2757266"/>
            <a:ext cx="0" cy="520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C6FDBE7-CFF7-CE47-91B9-0FE18640EC2E}"/>
              </a:ext>
            </a:extLst>
          </p:cNvPr>
          <p:cNvSpPr txBox="1"/>
          <p:nvPr/>
        </p:nvSpPr>
        <p:spPr>
          <a:xfrm>
            <a:off x="9037819" y="3189676"/>
            <a:ext cx="3154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  </a:t>
            </a:r>
            <a:r>
              <a:rPr kumimoji="1" lang="en-US" altLang="ja-JP" sz="2800" dirty="0"/>
              <a:t>I    you  he  she</a:t>
            </a:r>
            <a:endParaRPr kumimoji="1" lang="ja-JP" altLang="en-US" sz="4000"/>
          </a:p>
        </p:txBody>
      </p:sp>
    </p:spTree>
    <p:extLst>
      <p:ext uri="{BB962C8B-B14F-4D97-AF65-F5344CB8AC3E}">
        <p14:creationId xmlns:p14="http://schemas.microsoft.com/office/powerpoint/2010/main" val="1634279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Beam-search</a:t>
            </a:r>
            <a:endParaRPr lang="ja-JP" altLang="en-US" sz="36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84F04-56D0-864B-9645-7DC4D2AC0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ja-JP" b="1" dirty="0"/>
              <a:t>beam-search</a:t>
            </a:r>
          </a:p>
          <a:p>
            <a:pPr lvl="1"/>
            <a:r>
              <a:rPr lang="en" altLang="ja-JP" sz="2800" dirty="0"/>
              <a:t>Instead of only predicting the token with the best score, we keep track of k hypotheses (for example k=5, we refer to k as the </a:t>
            </a:r>
            <a:r>
              <a:rPr lang="en" altLang="ja-JP" sz="2800" b="1" dirty="0"/>
              <a:t>beam size</a:t>
            </a:r>
            <a:r>
              <a:rPr lang="en" altLang="ja-JP" sz="2800" dirty="0"/>
              <a:t>).</a:t>
            </a:r>
          </a:p>
          <a:p>
            <a:pPr lvl="1"/>
            <a:r>
              <a:rPr lang="en" altLang="ja-JP" sz="2800" dirty="0"/>
              <a:t>At each new time step, for these k hypotheses, we have V new possible tokens. It makes a total of kV new hypotheses. Then, only keep top k hypotheses, … .</a:t>
            </a:r>
          </a:p>
          <a:p>
            <a:pPr lvl="1"/>
            <a:endParaRPr lang="en" altLang="ja-JP" sz="2800" dirty="0"/>
          </a:p>
          <a:p>
            <a:pPr lvl="1"/>
            <a:r>
              <a:rPr lang="en" altLang="ja-JP" sz="2800" dirty="0"/>
              <a:t>The length of words to hold is also a parameter.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53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Experiment- </a:t>
            </a:r>
            <a:r>
              <a:rPr kumimoji="1" lang="en-US" altLang="ja-JP" b="1" dirty="0"/>
              <a:t>sequence to sequence task</a:t>
            </a:r>
            <a:endParaRPr kumimoji="1" lang="ja-JP" altLang="en-US" b="1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84F04-56D0-864B-9645-7DC4D2AC0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Data</a:t>
            </a:r>
          </a:p>
          <a:p>
            <a:pPr lvl="1"/>
            <a:r>
              <a:rPr lang="en-US" altLang="ja-JP" dirty="0"/>
              <a:t>WMT2014 English-German : 4.5 million sentence pairs</a:t>
            </a:r>
          </a:p>
          <a:p>
            <a:pPr lvl="1"/>
            <a:r>
              <a:rPr lang="en-US" altLang="ja-JP" dirty="0"/>
              <a:t>WMT2014 English-French : 36 million sentences</a:t>
            </a:r>
          </a:p>
          <a:p>
            <a:pPr lvl="1"/>
            <a:endParaRPr lang="en-US" altLang="ja-JP" dirty="0"/>
          </a:p>
          <a:p>
            <a:r>
              <a:rPr kumimoji="1" lang="en-US" altLang="ja-JP" dirty="0"/>
              <a:t>Hardware and Schedule</a:t>
            </a:r>
          </a:p>
          <a:p>
            <a:pPr lvl="1"/>
            <a:r>
              <a:rPr lang="en-US" altLang="ja-JP" dirty="0"/>
              <a:t>8 NVIDIA P100 GPUs</a:t>
            </a:r>
          </a:p>
          <a:p>
            <a:pPr lvl="1"/>
            <a:r>
              <a:rPr kumimoji="1" lang="en-US" altLang="ja-JP" dirty="0"/>
              <a:t>Base model : 100,000 steps or 12 hours</a:t>
            </a:r>
          </a:p>
          <a:p>
            <a:pPr lvl="1"/>
            <a:r>
              <a:rPr lang="en-US" altLang="ja-JP" dirty="0"/>
              <a:t>Big model : 300,000 steps (3.5 days)</a:t>
            </a:r>
          </a:p>
          <a:p>
            <a:r>
              <a:rPr kumimoji="1" lang="en-US" altLang="ja-JP" dirty="0"/>
              <a:t>Optimizer : Adam </a:t>
            </a:r>
          </a:p>
          <a:p>
            <a:pPr lvl="1"/>
            <a:r>
              <a:rPr lang="en-US" altLang="ja-JP" dirty="0"/>
              <a:t>Warm up, and then decrease learning rate.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55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Experiment – evaluation metrics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167312"/>
              </a:xfrm>
            </p:spPr>
            <p:txBody>
              <a:bodyPr>
                <a:normAutofit fontScale="92500"/>
              </a:bodyPr>
              <a:lstStyle/>
              <a:p>
                <a:r>
                  <a:rPr kumimoji="1" lang="en-US" altLang="ja-JP" sz="3600" b="1" dirty="0"/>
                  <a:t>BLEU </a:t>
                </a:r>
                <a:r>
                  <a:rPr lang="en-US" altLang="ja-JP" b="1" dirty="0"/>
                  <a:t>(</a:t>
                </a:r>
                <a:r>
                  <a:rPr lang="en" altLang="ja-JP" dirty="0"/>
                  <a:t>Bilingual Evaluation Understudy )</a:t>
                </a:r>
              </a:p>
              <a:p>
                <a:pPr lvl="1"/>
                <a:r>
                  <a:rPr lang="en" altLang="ja-JP" sz="3200" dirty="0"/>
                  <a:t>Evaluation metrics on how machine translation(MT) and ground truth(GT) translation are similar.</a:t>
                </a:r>
                <a:endParaRPr kumimoji="1" lang="en" altLang="ja-JP" sz="32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𝐵𝐿𝐸𝑈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𝐵𝐿𝐸𝑈</m:t>
                          </m:r>
                        </m:sub>
                      </m:sSub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3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  <m: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kumimoji="1" lang="en-US" altLang="ja-JP" sz="3200" dirty="0"/>
              </a:p>
              <a:p>
                <a:pPr marL="457200" lvl="1" indent="0">
                  <a:buNone/>
                </a:pPr>
                <a:r>
                  <a:rPr kumimoji="1" lang="en-US" altLang="ja-JP" sz="3000" dirty="0"/>
                  <a:t>Usually, N=4.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3200" i="1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ja-JP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𝐵𝐿𝐸𝑈</m:t>
                        </m:r>
                      </m:sub>
                    </m:sSub>
                    <m:r>
                      <a:rPr lang="en-US" altLang="ja-JP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3200" dirty="0"/>
                  <a:t>: penalty if multiplied when </a:t>
                </a:r>
                <a:r>
                  <a:rPr lang="en-US" altLang="ja-JP" sz="3200" dirty="0" err="1"/>
                  <a:t>len</a:t>
                </a:r>
                <a:r>
                  <a:rPr lang="en-US" altLang="ja-JP" sz="3200" dirty="0"/>
                  <a:t>(MT) &lt; </a:t>
                </a:r>
                <a:r>
                  <a:rPr lang="en-US" altLang="ja-JP" sz="3200" dirty="0" err="1"/>
                  <a:t>len</a:t>
                </a:r>
                <a:r>
                  <a:rPr lang="en-US" altLang="ja-JP" sz="3200" dirty="0"/>
                  <a:t>(GT)</a:t>
                </a:r>
              </a:p>
              <a:p>
                <a:pPr marL="457200" lvl="1" indent="0">
                  <a:buNone/>
                </a:pPr>
                <a:endParaRPr lang="en-US" altLang="ja-JP" sz="32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altLang="ja-JP" sz="3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𝑡h𝑒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𝑛𝑢𝑚𝑏𝑒𝑟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𝑔𝑟𝑎𝑚𝑠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𝑠𝑎𝑚𝑒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altLang="ja-JP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ja-JP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sSub>
                              <m:sSubPr>
                                <m:ctrlPr>
                                  <a:rPr lang="en-US" altLang="ja-JP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ja-JP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ja-JP" sz="3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𝑡h𝑒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𝑛𝑢𝑚𝑏𝑒𝑟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𝑔𝑟𝑎𝑚𝑠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altLang="ja-JP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ja-JP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sz="3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den>
                    </m:f>
                  </m:oMath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E484F04-56D0-864B-9645-7DC4D2AC0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167312"/>
              </a:xfrm>
              <a:blipFill>
                <a:blip r:embed="rId3"/>
                <a:stretch>
                  <a:fillRect l="-1327" t="-3431" b="-78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037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Experiment - Result</a:t>
            </a:r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7F694B8-CC64-434A-9A1A-5A3E6D608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096" y="1530203"/>
            <a:ext cx="9635807" cy="4351338"/>
          </a:xfrm>
        </p:spPr>
      </p:pic>
      <p:sp>
        <p:nvSpPr>
          <p:cNvPr id="6" name="角丸四角形 5">
            <a:extLst>
              <a:ext uri="{FF2B5EF4-FFF2-40B4-BE49-F238E27FC236}">
                <a16:creationId xmlns:a16="http://schemas.microsoft.com/office/drawing/2014/main" id="{A17D776C-B863-A14C-AAC8-4338AB8F6F01}"/>
              </a:ext>
            </a:extLst>
          </p:cNvPr>
          <p:cNvSpPr/>
          <p:nvPr/>
        </p:nvSpPr>
        <p:spPr>
          <a:xfrm>
            <a:off x="1856935" y="5064369"/>
            <a:ext cx="8454683" cy="6330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27119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52052" cy="1325563"/>
          </a:xfrm>
        </p:spPr>
        <p:txBody>
          <a:bodyPr/>
          <a:lstStyle/>
          <a:p>
            <a:r>
              <a:rPr kumimoji="1" lang="en-US" altLang="ja-JP" dirty="0"/>
              <a:t>Experiment – </a:t>
            </a:r>
            <a:r>
              <a:rPr kumimoji="1" lang="en-US" altLang="ja-JP" sz="3200" dirty="0"/>
              <a:t>Changing the parameters in Transformer</a:t>
            </a:r>
            <a:endParaRPr kumimoji="1" lang="ja-JP" altLang="en-US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897E5BE4-DD57-E64B-AA12-879FAE3F8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8234" y="1467014"/>
            <a:ext cx="8815532" cy="5390986"/>
          </a:xfr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461681-13A5-E443-8600-D7D8BF7F675F}"/>
              </a:ext>
            </a:extLst>
          </p:cNvPr>
          <p:cNvSpPr txBox="1"/>
          <p:nvPr/>
        </p:nvSpPr>
        <p:spPr>
          <a:xfrm>
            <a:off x="3850104" y="1321356"/>
            <a:ext cx="1852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Head number</a:t>
            </a:r>
            <a:endParaRPr kumimoji="1" lang="ja-JP" altLang="en-US"/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78CA968C-80B9-FE4F-A4FE-C3961D67770E}"/>
              </a:ext>
            </a:extLst>
          </p:cNvPr>
          <p:cNvSpPr/>
          <p:nvPr/>
        </p:nvSpPr>
        <p:spPr>
          <a:xfrm>
            <a:off x="4340637" y="1665021"/>
            <a:ext cx="324852" cy="3426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4B3D12-459E-1F4A-8FA1-09096339E117}"/>
              </a:ext>
            </a:extLst>
          </p:cNvPr>
          <p:cNvSpPr txBox="1"/>
          <p:nvPr/>
        </p:nvSpPr>
        <p:spPr>
          <a:xfrm>
            <a:off x="169525" y="2007670"/>
            <a:ext cx="1852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Base model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F628209-238A-444F-879B-226C5255E41C}"/>
              </a:ext>
            </a:extLst>
          </p:cNvPr>
          <p:cNvSpPr txBox="1"/>
          <p:nvPr/>
        </p:nvSpPr>
        <p:spPr>
          <a:xfrm>
            <a:off x="169525" y="6357316"/>
            <a:ext cx="1852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Big model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731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52052" cy="1325563"/>
          </a:xfrm>
        </p:spPr>
        <p:txBody>
          <a:bodyPr/>
          <a:lstStyle/>
          <a:p>
            <a:r>
              <a:rPr kumimoji="1" lang="en-US" altLang="ja-JP" dirty="0"/>
              <a:t>Experiment – </a:t>
            </a:r>
            <a:r>
              <a:rPr kumimoji="1" lang="en-US" altLang="ja-JP" sz="3200" dirty="0"/>
              <a:t>Self-attention visualization</a:t>
            </a:r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C56E2D3C-94E8-CB45-B841-18040602C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97139" y="1274419"/>
            <a:ext cx="8534173" cy="5057288"/>
          </a:xfr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1BDF22B-AF7C-FA40-82C7-0537446347C3}"/>
              </a:ext>
            </a:extLst>
          </p:cNvPr>
          <p:cNvSpPr txBox="1"/>
          <p:nvPr/>
        </p:nvSpPr>
        <p:spPr>
          <a:xfrm>
            <a:off x="1392702" y="6414868"/>
            <a:ext cx="829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Completing the phrase ”making … mor</a:t>
            </a:r>
            <a:r>
              <a:rPr lang="en-US" altLang="ja-JP" dirty="0"/>
              <a:t>e difficult</a:t>
            </a:r>
            <a:r>
              <a:rPr kumimoji="1" lang="en-US" altLang="ja-JP" dirty="0"/>
              <a:t>”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520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52052" cy="1325563"/>
          </a:xfrm>
        </p:spPr>
        <p:txBody>
          <a:bodyPr/>
          <a:lstStyle/>
          <a:p>
            <a:r>
              <a:rPr kumimoji="1" lang="en-US" altLang="ja-JP" dirty="0"/>
              <a:t>Experiment – </a:t>
            </a:r>
            <a:r>
              <a:rPr kumimoji="1" lang="en-US" altLang="ja-JP" sz="3200" dirty="0"/>
              <a:t>Self-attention visualization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1BDF22B-AF7C-FA40-82C7-0537446347C3}"/>
              </a:ext>
            </a:extLst>
          </p:cNvPr>
          <p:cNvSpPr txBox="1"/>
          <p:nvPr/>
        </p:nvSpPr>
        <p:spPr>
          <a:xfrm>
            <a:off x="393897" y="5369784"/>
            <a:ext cx="3353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Two different heads have d</a:t>
            </a:r>
            <a:r>
              <a:rPr lang="en-US" altLang="ja-JP" dirty="0"/>
              <a:t>ifferent attention weights.</a:t>
            </a:r>
            <a:r>
              <a:rPr kumimoji="1" lang="en-US" altLang="ja-JP" dirty="0"/>
              <a:t> 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7FCB2AD-8390-D64C-B02B-C310AA123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602" y="1324629"/>
            <a:ext cx="8415328" cy="505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91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52052" cy="1325563"/>
          </a:xfrm>
        </p:spPr>
        <p:txBody>
          <a:bodyPr/>
          <a:lstStyle/>
          <a:p>
            <a:r>
              <a:rPr kumimoji="1" lang="en-US" altLang="ja-JP" dirty="0"/>
              <a:t>Conclusion</a:t>
            </a:r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E909CB31-5342-1446-9DC0-803EA7D2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" altLang="ja-JP" dirty="0"/>
              <a:t>They presented the Transformer, the first sequence transduction model based entirely on attention, replacing the recurrent layers most commonly used in encoder-decoder architectures with multi-headed self-attention.</a:t>
            </a:r>
          </a:p>
          <a:p>
            <a:endParaRPr kumimoji="1" lang="en" altLang="ja-JP" dirty="0"/>
          </a:p>
          <a:p>
            <a:r>
              <a:rPr lang="en" altLang="ja-JP" dirty="0"/>
              <a:t>The Transformer can be trained significantly faster than architectures based on recurrent or convolutional layers.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907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DB307-47E8-2C41-9552-77F336DC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See detail at: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484F04-56D0-864B-9645-7DC4D2AC0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ja-JP" dirty="0">
                <a:hlinkClick r:id="rId2"/>
              </a:rPr>
              <a:t>https://jalammar.github.io/illustrated-transformer/</a:t>
            </a:r>
            <a:endParaRPr lang="en" altLang="ja-JP" dirty="0"/>
          </a:p>
          <a:p>
            <a:endParaRPr kumimoji="1" lang="en" altLang="ja-JP" dirty="0"/>
          </a:p>
          <a:p>
            <a:r>
              <a:rPr lang="en" altLang="ja-JP" dirty="0">
                <a:hlinkClick r:id="rId3"/>
              </a:rPr>
              <a:t>http://deeplearning.hatenablog.com/entry/transformer</a:t>
            </a:r>
            <a:endParaRPr lang="en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2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22030</TotalTime>
  <Words>1342</Words>
  <Application>Microsoft Macintosh PowerPoint</Application>
  <PresentationFormat>ワイド画面</PresentationFormat>
  <Paragraphs>226</Paragraphs>
  <Slides>36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1" baseType="lpstr">
      <vt:lpstr>游ゴシック</vt:lpstr>
      <vt:lpstr>游ゴシック Light</vt:lpstr>
      <vt:lpstr>Arial</vt:lpstr>
      <vt:lpstr>Cambria Math</vt:lpstr>
      <vt:lpstr>Office テーマ</vt:lpstr>
      <vt:lpstr>Attention Is All you need</vt:lpstr>
      <vt:lpstr>Today’s Paper : ‘Attention Is All you need‘</vt:lpstr>
      <vt:lpstr>Background : Natural language processing is the important application of ML</vt:lpstr>
      <vt:lpstr>Background : former techniques are not good at parallelization</vt:lpstr>
      <vt:lpstr>Background – challenge of computational cost</vt:lpstr>
      <vt:lpstr>MATOME</vt:lpstr>
      <vt:lpstr>Problem Setting : Sequence to sequence</vt:lpstr>
      <vt:lpstr>Entire Model Architecture</vt:lpstr>
      <vt:lpstr>PowerPoint プレゼンテーション</vt:lpstr>
      <vt:lpstr>What is Attention?</vt:lpstr>
      <vt:lpstr>What is Attention?</vt:lpstr>
      <vt:lpstr>What is Attention?</vt:lpstr>
      <vt:lpstr>Scaled Dot-Product Attention</vt:lpstr>
      <vt:lpstr>Multi-Head Attention</vt:lpstr>
      <vt:lpstr>Applications of Multi-Head Attention in model</vt:lpstr>
      <vt:lpstr>Data Flow in Attention (Multi-Head)</vt:lpstr>
      <vt:lpstr>Self-Attention in Decoder</vt:lpstr>
      <vt:lpstr>Why Self-Attention?</vt:lpstr>
      <vt:lpstr>PowerPoint プレゼンテーション</vt:lpstr>
      <vt:lpstr>Position-wise Feed-Forward Networks</vt:lpstr>
      <vt:lpstr>PowerPoint プレゼンテーション</vt:lpstr>
      <vt:lpstr>Positional Encoding</vt:lpstr>
      <vt:lpstr>Positional Encoding</vt:lpstr>
      <vt:lpstr>Positional Encoding</vt:lpstr>
      <vt:lpstr>PowerPoint プレゼンテーション</vt:lpstr>
      <vt:lpstr>Final FC and softmax layer</vt:lpstr>
      <vt:lpstr>Using Beam-search in selecting model prediction</vt:lpstr>
      <vt:lpstr>Beam-search</vt:lpstr>
      <vt:lpstr>Experiment- sequence to sequence task</vt:lpstr>
      <vt:lpstr>Experiment – evaluation metrics</vt:lpstr>
      <vt:lpstr>Experiment - Result</vt:lpstr>
      <vt:lpstr>Experiment – Changing the parameters in Transformer</vt:lpstr>
      <vt:lpstr>Experiment – Self-attention visualization</vt:lpstr>
      <vt:lpstr>Experiment – Self-attention visualization</vt:lpstr>
      <vt:lpstr>Conclusion</vt:lpstr>
      <vt:lpstr>See detail at: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</dc:title>
  <dc:creator>田中 大貴</dc:creator>
  <cp:lastModifiedBy>PC-A394</cp:lastModifiedBy>
  <cp:revision>202</cp:revision>
  <cp:lastPrinted>2019-01-11T03:53:50Z</cp:lastPrinted>
  <dcterms:created xsi:type="dcterms:W3CDTF">2018-12-12T09:45:24Z</dcterms:created>
  <dcterms:modified xsi:type="dcterms:W3CDTF">2019-01-11T05:48:14Z</dcterms:modified>
</cp:coreProperties>
</file>